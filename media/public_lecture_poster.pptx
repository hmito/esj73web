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
  </p:notesMasterIdLst>
  <p:sldIdLst>
    <p:sldId id="258" r:id="rId2"/>
    <p:sldId id="259" r:id="rId3"/>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476"/>
    <p:restoredTop sz="94641"/>
  </p:normalViewPr>
  <p:slideViewPr>
    <p:cSldViewPr snapToGrid="0">
      <p:cViewPr varScale="1">
        <p:scale>
          <a:sx n="128" d="100"/>
          <a:sy n="128" d="100"/>
        </p:scale>
        <p:origin x="498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D25B81-F319-A248-A685-3001F9FBDCA6}" type="datetimeFigureOut">
              <a:rPr kumimoji="1" lang="ja-JP" altLang="en-US" smtClean="0"/>
              <a:t>2025/12/5</a:t>
            </a:fld>
            <a:endParaRPr kumimoji="1" lang="ja-JP" altLang="en-US"/>
          </a:p>
        </p:txBody>
      </p:sp>
      <p:sp>
        <p:nvSpPr>
          <p:cNvPr id="4" name="スライド イメージ プレースホルダー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954157-0FCE-794B-99E8-85DAB608976F}" type="slidenum">
              <a:rPr kumimoji="1" lang="ja-JP" altLang="en-US" smtClean="0"/>
              <a:t>‹#›</a:t>
            </a:fld>
            <a:endParaRPr kumimoji="1" lang="ja-JP" altLang="en-US"/>
          </a:p>
        </p:txBody>
      </p:sp>
    </p:spTree>
    <p:extLst>
      <p:ext uri="{BB962C8B-B14F-4D97-AF65-F5344CB8AC3E}">
        <p14:creationId xmlns:p14="http://schemas.microsoft.com/office/powerpoint/2010/main" val="4561682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7B954157-0FCE-794B-99E8-85DAB608976F}" type="slidenum">
              <a:rPr kumimoji="1" lang="ja-JP" altLang="en-US" smtClean="0"/>
              <a:t>1</a:t>
            </a:fld>
            <a:endParaRPr kumimoji="1" lang="ja-JP" altLang="en-US"/>
          </a:p>
        </p:txBody>
      </p:sp>
    </p:spTree>
    <p:extLst>
      <p:ext uri="{BB962C8B-B14F-4D97-AF65-F5344CB8AC3E}">
        <p14:creationId xmlns:p14="http://schemas.microsoft.com/office/powerpoint/2010/main" val="24955659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7B954157-0FCE-794B-99E8-85DAB608976F}" type="slidenum">
              <a:rPr kumimoji="1" lang="ja-JP" altLang="en-US" smtClean="0"/>
              <a:t>2</a:t>
            </a:fld>
            <a:endParaRPr kumimoji="1" lang="ja-JP" altLang="en-US"/>
          </a:p>
        </p:txBody>
      </p:sp>
    </p:spTree>
    <p:extLst>
      <p:ext uri="{BB962C8B-B14F-4D97-AF65-F5344CB8AC3E}">
        <p14:creationId xmlns:p14="http://schemas.microsoft.com/office/powerpoint/2010/main" val="34098478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ja-JP" altLang="en-US"/>
              <a:t>マスター タイトルの書式設定</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227EE7EC-B80C-8746-83F4-F7EEDF9C79A5}" type="datetimeFigureOut">
              <a:rPr kumimoji="1" lang="ja-JP" altLang="en-US" smtClean="0"/>
              <a:t>2025/12/5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6FE4C01-DC7B-1244-9E28-57ACC68A75AE}" type="slidenum">
              <a:rPr kumimoji="1" lang="ja-JP" altLang="en-US" smtClean="0"/>
              <a:t>‹#›</a:t>
            </a:fld>
            <a:endParaRPr kumimoji="1" lang="ja-JP" altLang="en-US"/>
          </a:p>
        </p:txBody>
      </p:sp>
    </p:spTree>
    <p:extLst>
      <p:ext uri="{BB962C8B-B14F-4D97-AF65-F5344CB8AC3E}">
        <p14:creationId xmlns:p14="http://schemas.microsoft.com/office/powerpoint/2010/main" val="26561764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27EE7EC-B80C-8746-83F4-F7EEDF9C79A5}" type="datetimeFigureOut">
              <a:rPr kumimoji="1" lang="ja-JP" altLang="en-US" smtClean="0"/>
              <a:t>2025/12/5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6FE4C01-DC7B-1244-9E28-57ACC68A75AE}" type="slidenum">
              <a:rPr kumimoji="1" lang="ja-JP" altLang="en-US" smtClean="0"/>
              <a:t>‹#›</a:t>
            </a:fld>
            <a:endParaRPr kumimoji="1" lang="ja-JP" altLang="en-US"/>
          </a:p>
        </p:txBody>
      </p:sp>
    </p:spTree>
    <p:extLst>
      <p:ext uri="{BB962C8B-B14F-4D97-AF65-F5344CB8AC3E}">
        <p14:creationId xmlns:p14="http://schemas.microsoft.com/office/powerpoint/2010/main" val="1340768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227EE7EC-B80C-8746-83F4-F7EEDF9C79A5}" type="datetimeFigureOut">
              <a:rPr kumimoji="1" lang="ja-JP" altLang="en-US" smtClean="0"/>
              <a:t>2025/12/5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6FE4C01-DC7B-1244-9E28-57ACC68A75AE}" type="slidenum">
              <a:rPr kumimoji="1" lang="ja-JP" altLang="en-US" smtClean="0"/>
              <a:t>‹#›</a:t>
            </a:fld>
            <a:endParaRPr kumimoji="1" lang="ja-JP" altLang="en-US"/>
          </a:p>
        </p:txBody>
      </p:sp>
    </p:spTree>
    <p:extLst>
      <p:ext uri="{BB962C8B-B14F-4D97-AF65-F5344CB8AC3E}">
        <p14:creationId xmlns:p14="http://schemas.microsoft.com/office/powerpoint/2010/main" val="3844616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227EE7EC-B80C-8746-83F4-F7EEDF9C79A5}" type="datetimeFigureOut">
              <a:rPr kumimoji="1" lang="ja-JP" altLang="en-US" smtClean="0"/>
              <a:t>2025/12/5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06FE4C01-DC7B-1244-9E28-57ACC68A75AE}" type="slidenum">
              <a:rPr kumimoji="1" lang="ja-JP" altLang="en-US" smtClean="0"/>
              <a:t>‹#›</a:t>
            </a:fld>
            <a:endParaRPr kumimoji="1" lang="ja-JP" altLang="en-US"/>
          </a:p>
        </p:txBody>
      </p:sp>
    </p:spTree>
    <p:extLst>
      <p:ext uri="{BB962C8B-B14F-4D97-AF65-F5344CB8AC3E}">
        <p14:creationId xmlns:p14="http://schemas.microsoft.com/office/powerpoint/2010/main" val="23044983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a:t>マスター テキストの書式設定</a:t>
            </a:r>
          </a:p>
        </p:txBody>
      </p:sp>
      <p:sp>
        <p:nvSpPr>
          <p:cNvPr id="4" name="Content Placeholder 3"/>
          <p:cNvSpPr>
            <a:spLocks noGrp="1"/>
          </p:cNvSpPr>
          <p:nvPr>
            <p:ph sz="half" idx="2"/>
          </p:nvPr>
        </p:nvSpPr>
        <p:spPr>
          <a:xfrm>
            <a:off x="472381" y="3618442"/>
            <a:ext cx="2901255" cy="532218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a:t>マスター テキストの書式設定</a:t>
            </a:r>
          </a:p>
        </p:txBody>
      </p:sp>
      <p:sp>
        <p:nvSpPr>
          <p:cNvPr id="6" name="Content Placeholder 5"/>
          <p:cNvSpPr>
            <a:spLocks noGrp="1"/>
          </p:cNvSpPr>
          <p:nvPr>
            <p:ph sz="quarter" idx="4"/>
          </p:nvPr>
        </p:nvSpPr>
        <p:spPr>
          <a:xfrm>
            <a:off x="3471863" y="3618442"/>
            <a:ext cx="2915543" cy="532218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227EE7EC-B80C-8746-83F4-F7EEDF9C79A5}" type="datetimeFigureOut">
              <a:rPr kumimoji="1" lang="ja-JP" altLang="en-US" smtClean="0"/>
              <a:t>2025/12/5</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06FE4C01-DC7B-1244-9E28-57ACC68A75AE}" type="slidenum">
              <a:rPr kumimoji="1" lang="ja-JP" altLang="en-US" smtClean="0"/>
              <a:t>‹#›</a:t>
            </a:fld>
            <a:endParaRPr kumimoji="1" lang="ja-JP" altLang="en-US"/>
          </a:p>
        </p:txBody>
      </p:sp>
    </p:spTree>
    <p:extLst>
      <p:ext uri="{BB962C8B-B14F-4D97-AF65-F5344CB8AC3E}">
        <p14:creationId xmlns:p14="http://schemas.microsoft.com/office/powerpoint/2010/main" val="32436318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227EE7EC-B80C-8746-83F4-F7EEDF9C79A5}" type="datetimeFigureOut">
              <a:rPr kumimoji="1" lang="ja-JP" altLang="en-US" smtClean="0"/>
              <a:t>2025/12/5</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06FE4C01-DC7B-1244-9E28-57ACC68A75AE}" type="slidenum">
              <a:rPr kumimoji="1" lang="ja-JP" altLang="en-US" smtClean="0"/>
              <a:t>‹#›</a:t>
            </a:fld>
            <a:endParaRPr kumimoji="1" lang="ja-JP" altLang="en-US"/>
          </a:p>
        </p:txBody>
      </p:sp>
    </p:spTree>
    <p:extLst>
      <p:ext uri="{BB962C8B-B14F-4D97-AF65-F5344CB8AC3E}">
        <p14:creationId xmlns:p14="http://schemas.microsoft.com/office/powerpoint/2010/main" val="3316809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7EE7EC-B80C-8746-83F4-F7EEDF9C79A5}" type="datetimeFigureOut">
              <a:rPr kumimoji="1" lang="ja-JP" altLang="en-US" smtClean="0"/>
              <a:t>2025/12/5</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06FE4C01-DC7B-1244-9E28-57ACC68A75AE}" type="slidenum">
              <a:rPr kumimoji="1" lang="ja-JP" altLang="en-US" smtClean="0"/>
              <a:t>‹#›</a:t>
            </a:fld>
            <a:endParaRPr kumimoji="1" lang="ja-JP" altLang="en-US"/>
          </a:p>
        </p:txBody>
      </p:sp>
    </p:spTree>
    <p:extLst>
      <p:ext uri="{BB962C8B-B14F-4D97-AF65-F5344CB8AC3E}">
        <p14:creationId xmlns:p14="http://schemas.microsoft.com/office/powerpoint/2010/main" val="2076606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ja-JP" altLang="en-US"/>
              <a:t>マスター タイトルの書式設定</a:t>
            </a:r>
            <a:endParaRPr lang="en-US" dirty="0"/>
          </a:p>
        </p:txBody>
      </p:sp>
      <p:sp>
        <p:nvSpPr>
          <p:cNvPr id="3" name="Content Placeholder 2"/>
          <p:cNvSpPr>
            <a:spLocks noGrp="1"/>
          </p:cNvSpPr>
          <p:nvPr>
            <p:ph idx="1"/>
          </p:nvPr>
        </p:nvSpPr>
        <p:spPr>
          <a:xfrm>
            <a:off x="2915543" y="1426282"/>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27EE7EC-B80C-8746-83F4-F7EEDF9C79A5}" type="datetimeFigureOut">
              <a:rPr kumimoji="1" lang="ja-JP" altLang="en-US" smtClean="0"/>
              <a:t>2025/12/5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06FE4C01-DC7B-1244-9E28-57ACC68A75AE}" type="slidenum">
              <a:rPr kumimoji="1" lang="ja-JP" altLang="en-US" smtClean="0"/>
              <a:t>‹#›</a:t>
            </a:fld>
            <a:endParaRPr kumimoji="1" lang="ja-JP" altLang="en-US"/>
          </a:p>
        </p:txBody>
      </p:sp>
    </p:spTree>
    <p:extLst>
      <p:ext uri="{BB962C8B-B14F-4D97-AF65-F5344CB8AC3E}">
        <p14:creationId xmlns:p14="http://schemas.microsoft.com/office/powerpoint/2010/main" val="4761978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2915543" y="1426282"/>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27EE7EC-B80C-8746-83F4-F7EEDF9C79A5}" type="datetimeFigureOut">
              <a:rPr kumimoji="1" lang="ja-JP" altLang="en-US" smtClean="0"/>
              <a:t>2025/12/5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06FE4C01-DC7B-1244-9E28-57ACC68A75AE}" type="slidenum">
              <a:rPr kumimoji="1" lang="ja-JP" altLang="en-US" smtClean="0"/>
              <a:t>‹#›</a:t>
            </a:fld>
            <a:endParaRPr kumimoji="1" lang="ja-JP" altLang="en-US"/>
          </a:p>
        </p:txBody>
      </p:sp>
    </p:spTree>
    <p:extLst>
      <p:ext uri="{BB962C8B-B14F-4D97-AF65-F5344CB8AC3E}">
        <p14:creationId xmlns:p14="http://schemas.microsoft.com/office/powerpoint/2010/main" val="27761012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27EE7EC-B80C-8746-83F4-F7EEDF9C79A5}" type="datetimeFigureOut">
              <a:rPr kumimoji="1" lang="ja-JP" altLang="en-US" smtClean="0"/>
              <a:t>2025/12/5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6FE4C01-DC7B-1244-9E28-57ACC68A75AE}" type="slidenum">
              <a:rPr kumimoji="1" lang="ja-JP" altLang="en-US" smtClean="0"/>
              <a:t>‹#›</a:t>
            </a:fld>
            <a:endParaRPr kumimoji="1" lang="ja-JP" altLang="en-US"/>
          </a:p>
        </p:txBody>
      </p:sp>
    </p:spTree>
    <p:extLst>
      <p:ext uri="{BB962C8B-B14F-4D97-AF65-F5344CB8AC3E}">
        <p14:creationId xmlns:p14="http://schemas.microsoft.com/office/powerpoint/2010/main" val="239026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27EE7EC-B80C-8746-83F4-F7EEDF9C79A5}" type="datetimeFigureOut">
              <a:rPr kumimoji="1" lang="ja-JP" altLang="en-US" smtClean="0"/>
              <a:t>2025/12/5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6FE4C01-DC7B-1244-9E28-57ACC68A75AE}" type="slidenum">
              <a:rPr kumimoji="1" lang="ja-JP" altLang="en-US" smtClean="0"/>
              <a:t>‹#›</a:t>
            </a:fld>
            <a:endParaRPr kumimoji="1" lang="ja-JP" altLang="en-US"/>
          </a:p>
        </p:txBody>
      </p:sp>
    </p:spTree>
    <p:extLst>
      <p:ext uri="{BB962C8B-B14F-4D97-AF65-F5344CB8AC3E}">
        <p14:creationId xmlns:p14="http://schemas.microsoft.com/office/powerpoint/2010/main" val="1844161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471487"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227EE7EC-B80C-8746-83F4-F7EEDF9C79A5}" type="datetimeFigureOut">
              <a:rPr kumimoji="1" lang="ja-JP" altLang="en-US" smtClean="0"/>
              <a:t>2025/12/5</a:t>
            </a:fld>
            <a:endParaRPr kumimoji="1" lang="ja-JP" alt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kumimoji="1" lang="ja-JP"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06FE4C01-DC7B-1244-9E28-57ACC68A75AE}" type="slidenum">
              <a:rPr kumimoji="1" lang="ja-JP" altLang="en-US" smtClean="0"/>
              <a:t>‹#›</a:t>
            </a:fld>
            <a:endParaRPr kumimoji="1" lang="ja-JP" altLang="en-US"/>
          </a:p>
        </p:txBody>
      </p:sp>
    </p:spTree>
    <p:extLst>
      <p:ext uri="{BB962C8B-B14F-4D97-AF65-F5344CB8AC3E}">
        <p14:creationId xmlns:p14="http://schemas.microsoft.com/office/powerpoint/2010/main" val="19587548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4.png"/><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30B16-6DC2-B54D-D99F-8CB1ECC9F5DC}"/>
            </a:ext>
          </a:extLst>
        </p:cNvPr>
        <p:cNvGrpSpPr/>
        <p:nvPr/>
      </p:nvGrpSpPr>
      <p:grpSpPr>
        <a:xfrm>
          <a:off x="0" y="0"/>
          <a:ext cx="0" cy="0"/>
          <a:chOff x="0" y="0"/>
          <a:chExt cx="0" cy="0"/>
        </a:xfrm>
      </p:grpSpPr>
      <p:pic>
        <p:nvPicPr>
          <p:cNvPr id="3" name="図 2" descr="森の中を歩いている人の白黒写真&#10;&#10;AI 生成コンテンツは誤りを含む可能性があります。">
            <a:extLst>
              <a:ext uri="{FF2B5EF4-FFF2-40B4-BE49-F238E27FC236}">
                <a16:creationId xmlns:a16="http://schemas.microsoft.com/office/drawing/2014/main" id="{0DC35D66-013D-4966-7A51-81F1756D7CCC}"/>
              </a:ext>
            </a:extLst>
          </p:cNvPr>
          <p:cNvPicPr>
            <a:picLocks noChangeAspect="1"/>
          </p:cNvPicPr>
          <p:nvPr/>
        </p:nvPicPr>
        <p:blipFill>
          <a:blip r:embed="rId3"/>
          <a:stretch>
            <a:fillRect/>
          </a:stretch>
        </p:blipFill>
        <p:spPr>
          <a:xfrm>
            <a:off x="1823333" y="2653781"/>
            <a:ext cx="4555111" cy="3043770"/>
          </a:xfrm>
          <a:prstGeom prst="rect">
            <a:avLst/>
          </a:prstGeom>
          <a:effectLst>
            <a:outerShdw blurRad="50800" dist="38100" dir="2700000" algn="tl" rotWithShape="0">
              <a:prstClr val="black">
                <a:alpha val="40000"/>
              </a:prstClr>
            </a:outerShdw>
          </a:effectLst>
        </p:spPr>
      </p:pic>
      <p:sp>
        <p:nvSpPr>
          <p:cNvPr id="28" name="テキスト ボックス 27">
            <a:extLst>
              <a:ext uri="{FF2B5EF4-FFF2-40B4-BE49-F238E27FC236}">
                <a16:creationId xmlns:a16="http://schemas.microsoft.com/office/drawing/2014/main" id="{2BF205FA-3D13-1FE7-2037-DCBE0DDA2AF4}"/>
              </a:ext>
            </a:extLst>
          </p:cNvPr>
          <p:cNvSpPr txBox="1"/>
          <p:nvPr/>
        </p:nvSpPr>
        <p:spPr>
          <a:xfrm>
            <a:off x="266886" y="1802424"/>
            <a:ext cx="2444555" cy="461665"/>
          </a:xfrm>
          <a:prstGeom prst="rect">
            <a:avLst/>
          </a:prstGeom>
          <a:noFill/>
        </p:spPr>
        <p:txBody>
          <a:bodyPr wrap="square" rtlCol="0">
            <a:spAutoFit/>
          </a:bodyPr>
          <a:lstStyle/>
          <a:p>
            <a:r>
              <a:rPr kumimoji="1" lang="ja-JP" altLang="en-US" sz="1200">
                <a:solidFill>
                  <a:schemeClr val="tx1">
                    <a:lumMod val="65000"/>
                    <a:lumOff val="35000"/>
                  </a:schemeClr>
                </a:solidFill>
                <a:latin typeface="MS PMincho" panose="02020600040205080304" pitchFamily="18" charset="-128"/>
                <a:ea typeface="MS PMincho" panose="02020600040205080304" pitchFamily="18" charset="-128"/>
              </a:rPr>
              <a:t>日本生態学会　</a:t>
            </a:r>
            <a:endParaRPr kumimoji="1" lang="en-US" altLang="ja-JP" sz="1200" dirty="0">
              <a:solidFill>
                <a:schemeClr val="tx1">
                  <a:lumMod val="65000"/>
                  <a:lumOff val="35000"/>
                </a:schemeClr>
              </a:solidFill>
              <a:latin typeface="MS PMincho" panose="02020600040205080304" pitchFamily="18" charset="-128"/>
              <a:ea typeface="MS PMincho" panose="02020600040205080304" pitchFamily="18" charset="-128"/>
            </a:endParaRPr>
          </a:p>
          <a:p>
            <a:r>
              <a:rPr kumimoji="1" lang="ja-JP" altLang="en-US" sz="1200">
                <a:solidFill>
                  <a:schemeClr val="tx1">
                    <a:lumMod val="65000"/>
                    <a:lumOff val="35000"/>
                  </a:schemeClr>
                </a:solidFill>
                <a:latin typeface="MS PMincho" panose="02020600040205080304" pitchFamily="18" charset="-128"/>
                <a:ea typeface="MS PMincho" panose="02020600040205080304" pitchFamily="18" charset="-128"/>
              </a:rPr>
              <a:t>第</a:t>
            </a:r>
            <a:r>
              <a:rPr kumimoji="1" lang="en-US" altLang="ja-JP" sz="1200" dirty="0">
                <a:solidFill>
                  <a:schemeClr val="tx1">
                    <a:lumMod val="65000"/>
                    <a:lumOff val="35000"/>
                  </a:schemeClr>
                </a:solidFill>
                <a:latin typeface="Palatino" pitchFamily="2" charset="0"/>
                <a:ea typeface="Palatino" pitchFamily="2" charset="0"/>
              </a:rPr>
              <a:t>29</a:t>
            </a:r>
            <a:r>
              <a:rPr kumimoji="1" lang="ja-JP" altLang="en-US" sz="1200">
                <a:solidFill>
                  <a:schemeClr val="tx1">
                    <a:lumMod val="65000"/>
                    <a:lumOff val="35000"/>
                  </a:schemeClr>
                </a:solidFill>
                <a:latin typeface="MS PMincho" panose="02020600040205080304" pitchFamily="18" charset="-128"/>
                <a:ea typeface="MS PMincho" panose="02020600040205080304" pitchFamily="18" charset="-128"/>
              </a:rPr>
              <a:t>回公開講演会</a:t>
            </a:r>
            <a:endParaRPr kumimoji="1" lang="en-US" altLang="ja-JP" sz="1200" dirty="0">
              <a:solidFill>
                <a:schemeClr val="tx1">
                  <a:lumMod val="65000"/>
                  <a:lumOff val="35000"/>
                </a:schemeClr>
              </a:solidFill>
              <a:latin typeface="MS PMincho" panose="02020600040205080304" pitchFamily="18" charset="-128"/>
              <a:ea typeface="MS PMincho" panose="02020600040205080304" pitchFamily="18" charset="-128"/>
            </a:endParaRPr>
          </a:p>
        </p:txBody>
      </p:sp>
      <p:sp>
        <p:nvSpPr>
          <p:cNvPr id="29" name="テキスト ボックス 28">
            <a:extLst>
              <a:ext uri="{FF2B5EF4-FFF2-40B4-BE49-F238E27FC236}">
                <a16:creationId xmlns:a16="http://schemas.microsoft.com/office/drawing/2014/main" id="{514A6D84-CCA7-8492-C832-14925CED4B0D}"/>
              </a:ext>
            </a:extLst>
          </p:cNvPr>
          <p:cNvSpPr txBox="1"/>
          <p:nvPr/>
        </p:nvSpPr>
        <p:spPr>
          <a:xfrm>
            <a:off x="310544" y="9373960"/>
            <a:ext cx="1776378" cy="400110"/>
          </a:xfrm>
          <a:prstGeom prst="rect">
            <a:avLst/>
          </a:prstGeom>
          <a:noFill/>
        </p:spPr>
        <p:txBody>
          <a:bodyPr wrap="square" rtlCol="0">
            <a:spAutoFit/>
          </a:bodyPr>
          <a:lstStyle/>
          <a:p>
            <a:r>
              <a:rPr kumimoji="1" lang="ja-JP" altLang="en-US" sz="1000">
                <a:solidFill>
                  <a:schemeClr val="tx1">
                    <a:lumMod val="65000"/>
                    <a:lumOff val="35000"/>
                  </a:schemeClr>
                </a:solidFill>
                <a:latin typeface="MS PMincho" panose="02020600040205080304" pitchFamily="18" charset="-128"/>
                <a:ea typeface="MS PMincho" panose="02020600040205080304" pitchFamily="18" charset="-128"/>
              </a:rPr>
              <a:t>参加費無料</a:t>
            </a:r>
            <a:endParaRPr kumimoji="1" lang="en-US" altLang="ja-JP" sz="1000" dirty="0">
              <a:solidFill>
                <a:schemeClr val="tx1">
                  <a:lumMod val="65000"/>
                  <a:lumOff val="35000"/>
                </a:schemeClr>
              </a:solidFill>
              <a:latin typeface="MS PMincho" panose="02020600040205080304" pitchFamily="18" charset="-128"/>
              <a:ea typeface="MS PMincho" panose="02020600040205080304" pitchFamily="18" charset="-128"/>
            </a:endParaRPr>
          </a:p>
          <a:p>
            <a:r>
              <a:rPr kumimoji="1" lang="ja-JP" altLang="en-US" sz="1000">
                <a:solidFill>
                  <a:schemeClr val="tx1">
                    <a:lumMod val="65000"/>
                    <a:lumOff val="35000"/>
                  </a:schemeClr>
                </a:solidFill>
                <a:latin typeface="MS PMincho" panose="02020600040205080304" pitchFamily="18" charset="-128"/>
                <a:ea typeface="MS PMincho" panose="02020600040205080304" pitchFamily="18" charset="-128"/>
              </a:rPr>
              <a:t>事前登録は不要です</a:t>
            </a:r>
          </a:p>
        </p:txBody>
      </p:sp>
      <p:sp>
        <p:nvSpPr>
          <p:cNvPr id="30" name="テキスト ボックス 29">
            <a:extLst>
              <a:ext uri="{FF2B5EF4-FFF2-40B4-BE49-F238E27FC236}">
                <a16:creationId xmlns:a16="http://schemas.microsoft.com/office/drawing/2014/main" id="{B40932C3-D155-B3FC-278B-7537850E21E5}"/>
              </a:ext>
            </a:extLst>
          </p:cNvPr>
          <p:cNvSpPr txBox="1"/>
          <p:nvPr/>
        </p:nvSpPr>
        <p:spPr>
          <a:xfrm>
            <a:off x="3488021" y="6400749"/>
            <a:ext cx="3135363" cy="3411190"/>
          </a:xfrm>
          <a:prstGeom prst="rect">
            <a:avLst/>
          </a:prstGeom>
          <a:noFill/>
        </p:spPr>
        <p:txBody>
          <a:bodyPr wrap="square" rtlCol="0">
            <a:spAutoFit/>
          </a:bodyPr>
          <a:lstStyle/>
          <a:p>
            <a:r>
              <a:rPr kumimoji="1" lang="en-US" altLang="ja-JP" sz="1200" dirty="0">
                <a:solidFill>
                  <a:schemeClr val="tx1">
                    <a:lumMod val="65000"/>
                    <a:lumOff val="35000"/>
                  </a:schemeClr>
                </a:solidFill>
                <a:latin typeface="Palatino" pitchFamily="2" charset="0"/>
                <a:ea typeface="Palatino" pitchFamily="2" charset="0"/>
              </a:rPr>
              <a:t>           2026</a:t>
            </a:r>
            <a:r>
              <a:rPr kumimoji="1" lang="ja-JP" altLang="en-US" sz="1200">
                <a:solidFill>
                  <a:schemeClr val="tx1">
                    <a:lumMod val="65000"/>
                    <a:lumOff val="35000"/>
                  </a:schemeClr>
                </a:solidFill>
                <a:latin typeface="Palatino" pitchFamily="2" charset="0"/>
                <a:ea typeface="MS PMincho" panose="02020600040205080304" pitchFamily="18" charset="-128"/>
              </a:rPr>
              <a:t>年</a:t>
            </a:r>
            <a:endParaRPr kumimoji="1" lang="en-US" altLang="ja-JP" sz="1200" dirty="0">
              <a:solidFill>
                <a:schemeClr val="tx1">
                  <a:lumMod val="65000"/>
                  <a:lumOff val="35000"/>
                </a:schemeClr>
              </a:solidFill>
              <a:latin typeface="Palatino" pitchFamily="2" charset="0"/>
              <a:ea typeface="MS PMincho" panose="02020600040205080304" pitchFamily="18" charset="-128"/>
            </a:endParaRPr>
          </a:p>
          <a:p>
            <a:r>
              <a:rPr kumimoji="1" lang="en-US" altLang="ja-JP" sz="1200" dirty="0">
                <a:solidFill>
                  <a:schemeClr val="tx1">
                    <a:lumMod val="65000"/>
                    <a:lumOff val="35000"/>
                  </a:schemeClr>
                </a:solidFill>
                <a:latin typeface="Palatino" pitchFamily="2" charset="0"/>
                <a:ea typeface="MS PMincho" panose="02020600040205080304" pitchFamily="18" charset="-128"/>
              </a:rPr>
              <a:t>           </a:t>
            </a:r>
            <a:r>
              <a:rPr kumimoji="1" lang="en-US" altLang="ja-JP" sz="2400" dirty="0">
                <a:solidFill>
                  <a:schemeClr val="tx1">
                    <a:lumMod val="65000"/>
                    <a:lumOff val="35000"/>
                  </a:schemeClr>
                </a:solidFill>
                <a:latin typeface="Palatino" pitchFamily="2" charset="0"/>
                <a:ea typeface="Palatino" pitchFamily="2" charset="0"/>
              </a:rPr>
              <a:t>3</a:t>
            </a:r>
            <a:r>
              <a:rPr kumimoji="1" lang="ja-JP" altLang="en-US" sz="2400">
                <a:solidFill>
                  <a:schemeClr val="tx1">
                    <a:lumMod val="65000"/>
                    <a:lumOff val="35000"/>
                  </a:schemeClr>
                </a:solidFill>
                <a:latin typeface="Palatino" pitchFamily="2" charset="0"/>
                <a:ea typeface="MS PMincho" panose="02020600040205080304" pitchFamily="18" charset="-128"/>
              </a:rPr>
              <a:t>月</a:t>
            </a:r>
            <a:r>
              <a:rPr kumimoji="1" lang="en-US" altLang="ja-JP" sz="2400" dirty="0">
                <a:solidFill>
                  <a:schemeClr val="tx1">
                    <a:lumMod val="65000"/>
                    <a:lumOff val="35000"/>
                  </a:schemeClr>
                </a:solidFill>
                <a:latin typeface="Palatino" pitchFamily="2" charset="0"/>
                <a:ea typeface="Palatino" pitchFamily="2" charset="0"/>
              </a:rPr>
              <a:t>15</a:t>
            </a:r>
            <a:r>
              <a:rPr kumimoji="1" lang="ja-JP" altLang="en-US" sz="2400">
                <a:solidFill>
                  <a:schemeClr val="tx1">
                    <a:lumMod val="65000"/>
                    <a:lumOff val="35000"/>
                  </a:schemeClr>
                </a:solidFill>
                <a:latin typeface="Palatino" pitchFamily="2" charset="0"/>
                <a:ea typeface="MS PMincho" panose="02020600040205080304" pitchFamily="18" charset="-128"/>
              </a:rPr>
              <a:t>日</a:t>
            </a:r>
            <a:r>
              <a:rPr kumimoji="1" lang="ja-JP" altLang="en-US" sz="1200">
                <a:solidFill>
                  <a:schemeClr val="tx1">
                    <a:lumMod val="65000"/>
                    <a:lumOff val="35000"/>
                  </a:schemeClr>
                </a:solidFill>
                <a:latin typeface="Palatino" pitchFamily="2" charset="0"/>
                <a:ea typeface="MS PMincho" panose="02020600040205080304" pitchFamily="18" charset="-128"/>
              </a:rPr>
              <a:t>（日）</a:t>
            </a:r>
            <a:r>
              <a:rPr kumimoji="1" lang="en-US" altLang="ja-JP" sz="1200" dirty="0">
                <a:solidFill>
                  <a:schemeClr val="tx1">
                    <a:lumMod val="65000"/>
                    <a:lumOff val="35000"/>
                  </a:schemeClr>
                </a:solidFill>
                <a:latin typeface="Palatino" pitchFamily="2" charset="0"/>
                <a:ea typeface="Palatino" pitchFamily="2" charset="0"/>
              </a:rPr>
              <a:t>14:00〜17:00</a:t>
            </a:r>
            <a:endParaRPr kumimoji="1" lang="en-US" altLang="ja-JP" sz="1200" dirty="0">
              <a:solidFill>
                <a:schemeClr val="tx1">
                  <a:lumMod val="65000"/>
                  <a:lumOff val="35000"/>
                </a:schemeClr>
              </a:solidFill>
              <a:latin typeface="Palatino" pitchFamily="2" charset="0"/>
              <a:ea typeface="MS PMincho" panose="02020600040205080304" pitchFamily="18" charset="-128"/>
            </a:endParaRPr>
          </a:p>
          <a:p>
            <a:pPr>
              <a:lnSpc>
                <a:spcPts val="1000"/>
              </a:lnSpc>
            </a:pPr>
            <a:r>
              <a:rPr kumimoji="1" lang="en-US" altLang="ja-JP" sz="1200" dirty="0">
                <a:solidFill>
                  <a:schemeClr val="tx1">
                    <a:lumMod val="65000"/>
                    <a:lumOff val="35000"/>
                  </a:schemeClr>
                </a:solidFill>
                <a:latin typeface="Palatino" pitchFamily="2" charset="0"/>
                <a:ea typeface="MS PMincho" panose="02020600040205080304" pitchFamily="18" charset="-128"/>
              </a:rPr>
              <a:t>           </a:t>
            </a:r>
            <a:r>
              <a:rPr kumimoji="1" lang="ja-JP" altLang="en-US" sz="1000">
                <a:solidFill>
                  <a:schemeClr val="tx1">
                    <a:lumMod val="65000"/>
                    <a:lumOff val="35000"/>
                  </a:schemeClr>
                </a:solidFill>
                <a:latin typeface="Palatino" pitchFamily="2" charset="0"/>
                <a:ea typeface="MS PMincho" panose="02020600040205080304" pitchFamily="18" charset="-128"/>
              </a:rPr>
              <a:t>会場</a:t>
            </a:r>
            <a:r>
              <a:rPr kumimoji="1" lang="en-US" altLang="ja-JP" sz="1000" dirty="0">
                <a:solidFill>
                  <a:schemeClr val="tx1">
                    <a:lumMod val="65000"/>
                    <a:lumOff val="35000"/>
                  </a:schemeClr>
                </a:solidFill>
                <a:latin typeface="Palatino" pitchFamily="2" charset="0"/>
                <a:ea typeface="MS PMincho" panose="02020600040205080304" pitchFamily="18" charset="-128"/>
              </a:rPr>
              <a:t>/</a:t>
            </a:r>
            <a:r>
              <a:rPr kumimoji="1" lang="ja-JP" altLang="en-US" sz="1000">
                <a:solidFill>
                  <a:schemeClr val="tx1">
                    <a:lumMod val="65000"/>
                    <a:lumOff val="35000"/>
                  </a:schemeClr>
                </a:solidFill>
                <a:latin typeface="Palatino" pitchFamily="2" charset="0"/>
                <a:ea typeface="MS PMincho" panose="02020600040205080304" pitchFamily="18" charset="-128"/>
              </a:rPr>
              <a:t>国立京都国際会館</a:t>
            </a:r>
            <a:r>
              <a:rPr kumimoji="1" lang="en-US" altLang="ja-JP" sz="1000" dirty="0">
                <a:solidFill>
                  <a:schemeClr val="tx1">
                    <a:lumMod val="65000"/>
                    <a:lumOff val="35000"/>
                  </a:schemeClr>
                </a:solidFill>
                <a:latin typeface="Palatino" pitchFamily="2" charset="0"/>
                <a:ea typeface="MS PMincho" panose="02020600040205080304" pitchFamily="18" charset="-128"/>
              </a:rPr>
              <a:t>  Annex Hall</a:t>
            </a:r>
          </a:p>
          <a:p>
            <a:pPr>
              <a:lnSpc>
                <a:spcPts val="1000"/>
              </a:lnSpc>
            </a:pPr>
            <a:r>
              <a:rPr kumimoji="1" lang="en-US" altLang="ja-JP" sz="1000" dirty="0">
                <a:solidFill>
                  <a:schemeClr val="tx1">
                    <a:lumMod val="65000"/>
                    <a:lumOff val="35000"/>
                  </a:schemeClr>
                </a:solidFill>
                <a:latin typeface="Palatino" pitchFamily="2" charset="0"/>
                <a:ea typeface="MS PMincho" panose="02020600040205080304" pitchFamily="18" charset="-128"/>
              </a:rPr>
              <a:t>                                                               </a:t>
            </a:r>
            <a:r>
              <a:rPr kumimoji="1" lang="en-US" altLang="ja-JP" sz="900" dirty="0">
                <a:solidFill>
                  <a:schemeClr val="tx1">
                    <a:lumMod val="65000"/>
                    <a:lumOff val="35000"/>
                  </a:schemeClr>
                </a:solidFill>
                <a:latin typeface="Palatino" pitchFamily="2" charset="0"/>
                <a:ea typeface="MS PMincho" panose="02020600040205080304" pitchFamily="18" charset="-128"/>
              </a:rPr>
              <a:t> (Room S)</a:t>
            </a:r>
            <a:r>
              <a:rPr kumimoji="1" lang="en-US" altLang="ja-JP" sz="1000" dirty="0">
                <a:solidFill>
                  <a:schemeClr val="tx1">
                    <a:lumMod val="65000"/>
                    <a:lumOff val="35000"/>
                  </a:schemeClr>
                </a:solidFill>
                <a:latin typeface="Palatino" pitchFamily="2" charset="0"/>
                <a:ea typeface="MS PMincho" panose="02020600040205080304" pitchFamily="18" charset="-128"/>
              </a:rPr>
              <a:t> </a:t>
            </a:r>
          </a:p>
          <a:p>
            <a:pPr algn="r"/>
            <a:endParaRPr kumimoji="1" lang="en-US" altLang="ja-JP" sz="1100" dirty="0">
              <a:solidFill>
                <a:schemeClr val="tx1">
                  <a:lumMod val="65000"/>
                  <a:lumOff val="35000"/>
                </a:schemeClr>
              </a:solidFill>
              <a:latin typeface="Palatino" pitchFamily="2" charset="0"/>
              <a:ea typeface="Palatino" pitchFamily="2" charset="0"/>
            </a:endParaRPr>
          </a:p>
          <a:p>
            <a:pPr algn="r"/>
            <a:endParaRPr kumimoji="1" lang="en-US" altLang="ja-JP" sz="1100" dirty="0">
              <a:solidFill>
                <a:schemeClr val="tx1">
                  <a:lumMod val="65000"/>
                  <a:lumOff val="35000"/>
                </a:schemeClr>
              </a:solidFill>
              <a:latin typeface="Palatino" pitchFamily="2" charset="0"/>
              <a:ea typeface="Palatino" pitchFamily="2" charset="0"/>
            </a:endParaRPr>
          </a:p>
          <a:p>
            <a:pPr algn="r"/>
            <a:endParaRPr kumimoji="1" lang="en-US" altLang="ja-JP" sz="1100" dirty="0">
              <a:solidFill>
                <a:schemeClr val="tx1">
                  <a:lumMod val="65000"/>
                  <a:lumOff val="35000"/>
                </a:schemeClr>
              </a:solidFill>
              <a:latin typeface="Palatino" pitchFamily="2" charset="0"/>
              <a:ea typeface="Palatino" pitchFamily="2" charset="0"/>
            </a:endParaRPr>
          </a:p>
          <a:p>
            <a:r>
              <a:rPr kumimoji="1" lang="ja-JP" altLang="en-US" sz="900">
                <a:solidFill>
                  <a:schemeClr val="tx1">
                    <a:lumMod val="65000"/>
                    <a:lumOff val="35000"/>
                  </a:schemeClr>
                </a:solidFill>
                <a:latin typeface="Palatino" pitchFamily="2" charset="0"/>
                <a:ea typeface="Palatino" pitchFamily="2" charset="0"/>
              </a:rPr>
              <a:t>講演</a:t>
            </a:r>
            <a:r>
              <a:rPr kumimoji="1" lang="en-US" altLang="ja-JP" sz="900" dirty="0">
                <a:solidFill>
                  <a:schemeClr val="tx1">
                    <a:lumMod val="65000"/>
                    <a:lumOff val="35000"/>
                  </a:schemeClr>
                </a:solidFill>
                <a:latin typeface="Palatino" pitchFamily="2" charset="0"/>
                <a:ea typeface="Palatino" pitchFamily="2" charset="0"/>
              </a:rPr>
              <a:t>/</a:t>
            </a:r>
          </a:p>
          <a:p>
            <a:r>
              <a:rPr kumimoji="1" lang="ja-JP" altLang="en-US" sz="900">
                <a:solidFill>
                  <a:schemeClr val="tx1">
                    <a:lumMod val="65000"/>
                    <a:lumOff val="35000"/>
                  </a:schemeClr>
                </a:solidFill>
                <a:latin typeface="Palatino" pitchFamily="2" charset="0"/>
                <a:ea typeface="MS PMincho" panose="02020600040205080304" pitchFamily="18" charset="-128"/>
              </a:rPr>
              <a:t>京都盆地周辺における平安時代以降の森の移り変わり</a:t>
            </a:r>
            <a:r>
              <a:rPr kumimoji="1" lang="en-US" altLang="ja-JP" sz="900" dirty="0">
                <a:solidFill>
                  <a:schemeClr val="tx1">
                    <a:lumMod val="65000"/>
                    <a:lumOff val="35000"/>
                  </a:schemeClr>
                </a:solidFill>
                <a:latin typeface="Palatino" pitchFamily="2" charset="0"/>
                <a:ea typeface="Palatino" pitchFamily="2" charset="0"/>
              </a:rPr>
              <a:t>	</a:t>
            </a:r>
          </a:p>
          <a:p>
            <a:r>
              <a:rPr kumimoji="1" lang="ja-JP" altLang="en-US" sz="900">
                <a:solidFill>
                  <a:schemeClr val="tx1">
                    <a:lumMod val="65000"/>
                    <a:lumOff val="35000"/>
                  </a:schemeClr>
                </a:solidFill>
                <a:latin typeface="Palatino" pitchFamily="2" charset="0"/>
                <a:ea typeface="MS PMincho" panose="02020600040205080304" pitchFamily="18" charset="-128"/>
              </a:rPr>
              <a:t>　　　　　　京都府立大学　高原　光</a:t>
            </a:r>
            <a:endParaRPr kumimoji="1" lang="en-US" altLang="ja-JP" sz="900" dirty="0">
              <a:solidFill>
                <a:schemeClr val="tx1">
                  <a:lumMod val="65000"/>
                  <a:lumOff val="35000"/>
                </a:schemeClr>
              </a:solidFill>
              <a:latin typeface="Palatino" pitchFamily="2" charset="0"/>
              <a:ea typeface="Palatino" pitchFamily="2" charset="0"/>
            </a:endParaRPr>
          </a:p>
          <a:p>
            <a:r>
              <a:rPr kumimoji="1" lang="ja-JP" altLang="en-US" sz="900">
                <a:solidFill>
                  <a:schemeClr val="tx1">
                    <a:lumMod val="65000"/>
                    <a:lumOff val="35000"/>
                  </a:schemeClr>
                </a:solidFill>
                <a:latin typeface="Palatino" pitchFamily="2" charset="0"/>
                <a:ea typeface="MS PMincho" panose="02020600040205080304" pitchFamily="18" charset="-128"/>
              </a:rPr>
              <a:t>日本庭園とその自然　－　修学院離宮</a:t>
            </a:r>
            <a:endParaRPr kumimoji="1" lang="en-US" altLang="ja-JP" sz="900" dirty="0">
              <a:solidFill>
                <a:schemeClr val="tx1">
                  <a:lumMod val="65000"/>
                  <a:lumOff val="35000"/>
                </a:schemeClr>
              </a:solidFill>
              <a:latin typeface="Palatino" pitchFamily="2" charset="0"/>
              <a:ea typeface="MS PMincho" panose="02020600040205080304" pitchFamily="18" charset="-128"/>
            </a:endParaRPr>
          </a:p>
          <a:p>
            <a:r>
              <a:rPr kumimoji="1" lang="en-US" altLang="ja-JP" sz="900" dirty="0">
                <a:solidFill>
                  <a:schemeClr val="tx1">
                    <a:lumMod val="65000"/>
                    <a:lumOff val="35000"/>
                  </a:schemeClr>
                </a:solidFill>
                <a:latin typeface="Palatino" pitchFamily="2" charset="0"/>
                <a:ea typeface="Palatino" pitchFamily="2" charset="0"/>
              </a:rPr>
              <a:t>	</a:t>
            </a:r>
            <a:r>
              <a:rPr kumimoji="1" lang="ja-JP" altLang="en-US" sz="900">
                <a:solidFill>
                  <a:schemeClr val="tx1">
                    <a:lumMod val="65000"/>
                    <a:lumOff val="35000"/>
                  </a:schemeClr>
                </a:solidFill>
                <a:latin typeface="Palatino" pitchFamily="2" charset="0"/>
                <a:ea typeface="MS PMincho" panose="02020600040205080304" pitchFamily="18" charset="-128"/>
              </a:rPr>
              <a:t>元ソウル国立大学　ウィーベ　カウテルト</a:t>
            </a:r>
            <a:endParaRPr kumimoji="1" lang="en-US" altLang="ja-JP" sz="900" dirty="0">
              <a:solidFill>
                <a:schemeClr val="tx1">
                  <a:lumMod val="65000"/>
                  <a:lumOff val="35000"/>
                </a:schemeClr>
              </a:solidFill>
              <a:latin typeface="Palatino" pitchFamily="2" charset="0"/>
              <a:ea typeface="Palatino" pitchFamily="2" charset="0"/>
            </a:endParaRPr>
          </a:p>
          <a:p>
            <a:r>
              <a:rPr kumimoji="1" lang="ja-JP" altLang="en-US" sz="900">
                <a:solidFill>
                  <a:schemeClr val="tx1">
                    <a:lumMod val="65000"/>
                    <a:lumOff val="35000"/>
                  </a:schemeClr>
                </a:solidFill>
                <a:latin typeface="Palatino" pitchFamily="2" charset="0"/>
                <a:ea typeface="MS PMincho" panose="02020600040205080304" pitchFamily="18" charset="-128"/>
              </a:rPr>
              <a:t>京都周辺の自然資源と食文化</a:t>
            </a:r>
            <a:endParaRPr kumimoji="1" lang="en-US" altLang="ja-JP" sz="900" dirty="0">
              <a:solidFill>
                <a:schemeClr val="tx1">
                  <a:lumMod val="65000"/>
                  <a:lumOff val="35000"/>
                </a:schemeClr>
              </a:solidFill>
              <a:latin typeface="Palatino" pitchFamily="2" charset="0"/>
              <a:ea typeface="Palatino" pitchFamily="2" charset="0"/>
            </a:endParaRPr>
          </a:p>
          <a:p>
            <a:r>
              <a:rPr kumimoji="1" lang="en-US" altLang="ja-JP" sz="900" dirty="0">
                <a:solidFill>
                  <a:schemeClr val="tx1">
                    <a:lumMod val="65000"/>
                    <a:lumOff val="35000"/>
                  </a:schemeClr>
                </a:solidFill>
                <a:latin typeface="Palatino" pitchFamily="2" charset="0"/>
                <a:ea typeface="Palatino" pitchFamily="2" charset="0"/>
              </a:rPr>
              <a:t>	</a:t>
            </a:r>
            <a:r>
              <a:rPr kumimoji="1" lang="ja-JP" altLang="en-US" sz="900">
                <a:solidFill>
                  <a:schemeClr val="tx1">
                    <a:lumMod val="65000"/>
                    <a:lumOff val="35000"/>
                  </a:schemeClr>
                </a:solidFill>
                <a:latin typeface="Palatino" pitchFamily="2" charset="0"/>
                <a:ea typeface="MS PMincho" panose="02020600040205080304" pitchFamily="18" charset="-128"/>
              </a:rPr>
              <a:t>立命館大学　鎌谷　かおる</a:t>
            </a:r>
            <a:endParaRPr kumimoji="1" lang="en-US" altLang="ja-JP" sz="900" dirty="0">
              <a:solidFill>
                <a:schemeClr val="tx1">
                  <a:lumMod val="65000"/>
                  <a:lumOff val="35000"/>
                </a:schemeClr>
              </a:solidFill>
              <a:latin typeface="Palatino" pitchFamily="2" charset="0"/>
              <a:ea typeface="Palatino" pitchFamily="2" charset="0"/>
            </a:endParaRPr>
          </a:p>
          <a:p>
            <a:r>
              <a:rPr kumimoji="1" lang="ja-JP" altLang="en-US" sz="900">
                <a:solidFill>
                  <a:schemeClr val="tx1">
                    <a:lumMod val="65000"/>
                    <a:lumOff val="35000"/>
                  </a:schemeClr>
                </a:solidFill>
                <a:latin typeface="Palatino" pitchFamily="2" charset="0"/>
                <a:ea typeface="MS PMincho" panose="02020600040205080304" pitchFamily="18" charset="-128"/>
              </a:rPr>
              <a:t>パネルディスカッション</a:t>
            </a:r>
            <a:r>
              <a:rPr kumimoji="1" lang="en-US" altLang="ja-JP" sz="900" dirty="0">
                <a:solidFill>
                  <a:schemeClr val="tx1">
                    <a:lumMod val="65000"/>
                    <a:lumOff val="35000"/>
                  </a:schemeClr>
                </a:solidFill>
                <a:latin typeface="Palatino" pitchFamily="2" charset="0"/>
                <a:ea typeface="MS PMincho" panose="02020600040205080304" pitchFamily="18" charset="-128"/>
              </a:rPr>
              <a:t>/</a:t>
            </a:r>
            <a:r>
              <a:rPr kumimoji="1" lang="ja-JP" altLang="en-US" sz="900">
                <a:solidFill>
                  <a:schemeClr val="tx1">
                    <a:lumMod val="65000"/>
                    <a:lumOff val="35000"/>
                  </a:schemeClr>
                </a:solidFill>
                <a:latin typeface="Palatino" pitchFamily="2" charset="0"/>
                <a:ea typeface="MS PMincho" panose="02020600040205080304" pitchFamily="18" charset="-128"/>
              </a:rPr>
              <a:t>　</a:t>
            </a:r>
            <a:endParaRPr kumimoji="1" lang="en-US" altLang="ja-JP" sz="900" dirty="0">
              <a:solidFill>
                <a:schemeClr val="tx1">
                  <a:lumMod val="65000"/>
                  <a:lumOff val="35000"/>
                </a:schemeClr>
              </a:solidFill>
              <a:latin typeface="Palatino" pitchFamily="2" charset="0"/>
              <a:ea typeface="Palatino" pitchFamily="2" charset="0"/>
            </a:endParaRPr>
          </a:p>
          <a:p>
            <a:r>
              <a:rPr kumimoji="1" lang="en-US" altLang="ja-JP" sz="900" dirty="0">
                <a:solidFill>
                  <a:schemeClr val="tx1">
                    <a:lumMod val="65000"/>
                    <a:lumOff val="35000"/>
                  </a:schemeClr>
                </a:solidFill>
                <a:latin typeface="Palatino" pitchFamily="2" charset="0"/>
                <a:ea typeface="Palatino" pitchFamily="2" charset="0"/>
              </a:rPr>
              <a:t>	</a:t>
            </a:r>
            <a:r>
              <a:rPr kumimoji="1" lang="ja-JP" altLang="en-US" sz="900">
                <a:solidFill>
                  <a:schemeClr val="tx1">
                    <a:lumMod val="65000"/>
                    <a:lumOff val="35000"/>
                  </a:schemeClr>
                </a:solidFill>
                <a:latin typeface="Palatino" pitchFamily="2" charset="0"/>
                <a:ea typeface="MS PMincho" panose="02020600040205080304" pitchFamily="18" charset="-128"/>
              </a:rPr>
              <a:t>パネラー　京都府立大学　松谷　茂</a:t>
            </a:r>
            <a:endParaRPr kumimoji="1" lang="en-US" altLang="ja-JP" sz="900" dirty="0">
              <a:solidFill>
                <a:schemeClr val="tx1">
                  <a:lumMod val="65000"/>
                  <a:lumOff val="35000"/>
                </a:schemeClr>
              </a:solidFill>
              <a:latin typeface="Palatino" pitchFamily="2" charset="0"/>
              <a:ea typeface="Palatino" pitchFamily="2" charset="0"/>
            </a:endParaRPr>
          </a:p>
          <a:p>
            <a:r>
              <a:rPr kumimoji="1" lang="en-US" altLang="ja-JP" sz="900" dirty="0">
                <a:solidFill>
                  <a:schemeClr val="tx1">
                    <a:lumMod val="65000"/>
                    <a:lumOff val="35000"/>
                  </a:schemeClr>
                </a:solidFill>
                <a:latin typeface="Palatino" pitchFamily="2" charset="0"/>
                <a:ea typeface="Palatino" pitchFamily="2" charset="0"/>
              </a:rPr>
              <a:t>	</a:t>
            </a:r>
            <a:r>
              <a:rPr kumimoji="1" lang="ja-JP" altLang="en-US" sz="900">
                <a:solidFill>
                  <a:schemeClr val="tx1">
                    <a:lumMod val="65000"/>
                    <a:lumOff val="35000"/>
                  </a:schemeClr>
                </a:solidFill>
                <a:latin typeface="Palatino" pitchFamily="2" charset="0"/>
                <a:ea typeface="MS PMincho" panose="02020600040205080304" pitchFamily="18" charset="-128"/>
              </a:rPr>
              <a:t>　　　　　　</a:t>
            </a:r>
            <a:r>
              <a:rPr kumimoji="1" lang="en-US" altLang="ja-JP" sz="900" dirty="0">
                <a:solidFill>
                  <a:schemeClr val="tx1">
                    <a:lumMod val="65000"/>
                    <a:lumOff val="35000"/>
                  </a:schemeClr>
                </a:solidFill>
                <a:latin typeface="Palatino" pitchFamily="2" charset="0"/>
                <a:ea typeface="MS PMincho" panose="02020600040205080304" pitchFamily="18" charset="-128"/>
              </a:rPr>
              <a:t>  </a:t>
            </a:r>
            <a:r>
              <a:rPr kumimoji="1" lang="ja-JP" altLang="en-US" sz="900">
                <a:solidFill>
                  <a:schemeClr val="tx1">
                    <a:lumMod val="65000"/>
                    <a:lumOff val="35000"/>
                  </a:schemeClr>
                </a:solidFill>
                <a:latin typeface="Palatino" pitchFamily="2" charset="0"/>
                <a:ea typeface="MS PMincho" panose="02020600040205080304" pitchFamily="18" charset="-128"/>
              </a:rPr>
              <a:t>京都大学　深町　加津枝</a:t>
            </a:r>
            <a:endParaRPr kumimoji="1" lang="en-US" altLang="ja-JP" sz="900" dirty="0">
              <a:solidFill>
                <a:schemeClr val="tx1">
                  <a:lumMod val="65000"/>
                  <a:lumOff val="35000"/>
                </a:schemeClr>
              </a:solidFill>
              <a:latin typeface="Palatino" pitchFamily="2" charset="0"/>
              <a:ea typeface="Palatino" pitchFamily="2" charset="0"/>
            </a:endParaRPr>
          </a:p>
          <a:p>
            <a:endParaRPr kumimoji="1" lang="en-US" altLang="ja-JP" sz="1100" dirty="0">
              <a:solidFill>
                <a:schemeClr val="tx1">
                  <a:lumMod val="65000"/>
                  <a:lumOff val="35000"/>
                </a:schemeClr>
              </a:solidFill>
              <a:latin typeface="Palatino" pitchFamily="2" charset="0"/>
              <a:ea typeface="Palatino" pitchFamily="2" charset="0"/>
            </a:endParaRPr>
          </a:p>
          <a:p>
            <a:endParaRPr kumimoji="1" lang="en-US" altLang="ja-JP" sz="1100" dirty="0">
              <a:solidFill>
                <a:schemeClr val="tx1">
                  <a:lumMod val="65000"/>
                  <a:lumOff val="35000"/>
                </a:schemeClr>
              </a:solidFill>
              <a:latin typeface="Palatino" pitchFamily="2" charset="0"/>
              <a:ea typeface="MS PMincho" panose="02020600040205080304" pitchFamily="18" charset="-128"/>
            </a:endParaRPr>
          </a:p>
          <a:p>
            <a:pPr algn="r"/>
            <a:r>
              <a:rPr kumimoji="1" lang="ja-JP" altLang="en-US" sz="900">
                <a:solidFill>
                  <a:schemeClr val="tx1">
                    <a:lumMod val="65000"/>
                    <a:lumOff val="35000"/>
                  </a:schemeClr>
                </a:solidFill>
                <a:latin typeface="Palatino" pitchFamily="2" charset="0"/>
                <a:ea typeface="MS PMincho" panose="02020600040205080304" pitchFamily="18" charset="-128"/>
              </a:rPr>
              <a:t>主催</a:t>
            </a:r>
            <a:r>
              <a:rPr kumimoji="1" lang="en-US" altLang="ja-JP" sz="900" dirty="0">
                <a:solidFill>
                  <a:schemeClr val="tx1">
                    <a:lumMod val="65000"/>
                    <a:lumOff val="35000"/>
                  </a:schemeClr>
                </a:solidFill>
                <a:latin typeface="Palatino" pitchFamily="2" charset="0"/>
                <a:ea typeface="MS PMincho" panose="02020600040205080304" pitchFamily="18" charset="-128"/>
              </a:rPr>
              <a:t>/</a:t>
            </a:r>
            <a:r>
              <a:rPr kumimoji="1" lang="ja-JP" altLang="en-US" sz="900">
                <a:solidFill>
                  <a:schemeClr val="tx1">
                    <a:lumMod val="65000"/>
                    <a:lumOff val="35000"/>
                  </a:schemeClr>
                </a:solidFill>
                <a:latin typeface="Palatino" pitchFamily="2" charset="0"/>
                <a:ea typeface="MS PMincho" panose="02020600040205080304" pitchFamily="18" charset="-128"/>
              </a:rPr>
              <a:t>　第</a:t>
            </a:r>
            <a:r>
              <a:rPr kumimoji="1" lang="en-US" altLang="ja-JP" sz="900" dirty="0">
                <a:solidFill>
                  <a:schemeClr val="tx1">
                    <a:lumMod val="65000"/>
                    <a:lumOff val="35000"/>
                  </a:schemeClr>
                </a:solidFill>
                <a:latin typeface="Palatino" pitchFamily="2" charset="0"/>
                <a:ea typeface="MS PMincho" panose="02020600040205080304" pitchFamily="18" charset="-128"/>
              </a:rPr>
              <a:t>73</a:t>
            </a:r>
            <a:r>
              <a:rPr kumimoji="1" lang="ja-JP" altLang="en-US" sz="900">
                <a:solidFill>
                  <a:schemeClr val="tx1">
                    <a:lumMod val="65000"/>
                    <a:lumOff val="35000"/>
                  </a:schemeClr>
                </a:solidFill>
                <a:latin typeface="Palatino" pitchFamily="2" charset="0"/>
                <a:ea typeface="MS PMincho" panose="02020600040205080304" pitchFamily="18" charset="-128"/>
              </a:rPr>
              <a:t>回日本生態学会大会</a:t>
            </a:r>
            <a:endParaRPr kumimoji="1" lang="en-US" altLang="ja-JP" sz="900" dirty="0">
              <a:solidFill>
                <a:schemeClr val="tx1">
                  <a:lumMod val="65000"/>
                  <a:lumOff val="35000"/>
                </a:schemeClr>
              </a:solidFill>
              <a:latin typeface="Palatino" pitchFamily="2" charset="0"/>
              <a:ea typeface="MS PMincho" panose="02020600040205080304" pitchFamily="18" charset="-128"/>
            </a:endParaRPr>
          </a:p>
          <a:p>
            <a:pPr algn="r"/>
            <a:r>
              <a:rPr kumimoji="1" lang="ja-JP" altLang="en-US" sz="900">
                <a:solidFill>
                  <a:schemeClr val="tx1">
                    <a:lumMod val="65000"/>
                    <a:lumOff val="35000"/>
                  </a:schemeClr>
                </a:solidFill>
                <a:latin typeface="Palatino" pitchFamily="2" charset="0"/>
                <a:ea typeface="MS PMincho" panose="02020600040205080304" pitchFamily="18" charset="-128"/>
              </a:rPr>
              <a:t>後援</a:t>
            </a:r>
            <a:r>
              <a:rPr kumimoji="1" lang="en-US" altLang="ja-JP" sz="900" dirty="0">
                <a:solidFill>
                  <a:schemeClr val="tx1">
                    <a:lumMod val="65000"/>
                    <a:lumOff val="35000"/>
                  </a:schemeClr>
                </a:solidFill>
                <a:latin typeface="Palatino" pitchFamily="2" charset="0"/>
                <a:ea typeface="MS PMincho" panose="02020600040205080304" pitchFamily="18" charset="-128"/>
              </a:rPr>
              <a:t>/</a:t>
            </a:r>
            <a:r>
              <a:rPr kumimoji="1" lang="ja-JP" altLang="en-US" sz="900">
                <a:solidFill>
                  <a:schemeClr val="tx1">
                    <a:lumMod val="65000"/>
                    <a:lumOff val="35000"/>
                  </a:schemeClr>
                </a:solidFill>
                <a:latin typeface="Palatino" pitchFamily="2" charset="0"/>
                <a:ea typeface="MS PMincho" panose="02020600040205080304" pitchFamily="18" charset="-128"/>
              </a:rPr>
              <a:t>　京都府立植物園（予定）</a:t>
            </a:r>
            <a:endParaRPr kumimoji="1" lang="en-US" altLang="ja-JP" sz="900" dirty="0">
              <a:solidFill>
                <a:schemeClr val="tx1">
                  <a:lumMod val="65000"/>
                  <a:lumOff val="35000"/>
                </a:schemeClr>
              </a:solidFill>
              <a:latin typeface="Palatino" pitchFamily="2" charset="0"/>
              <a:ea typeface="Palatino" pitchFamily="2" charset="0"/>
            </a:endParaRPr>
          </a:p>
        </p:txBody>
      </p:sp>
      <p:pic>
        <p:nvPicPr>
          <p:cNvPr id="5" name="図 4" descr="工場, 屋内, 窓, テーブル が含まれている画像&#10;&#10;AI 生成コンテンツは誤りを含む可能性があります。">
            <a:extLst>
              <a:ext uri="{FF2B5EF4-FFF2-40B4-BE49-F238E27FC236}">
                <a16:creationId xmlns:a16="http://schemas.microsoft.com/office/drawing/2014/main" id="{76C332EA-69C9-D081-94F4-976307B2DE5B}"/>
              </a:ext>
            </a:extLst>
          </p:cNvPr>
          <p:cNvPicPr>
            <a:picLocks noChangeAspect="1"/>
          </p:cNvPicPr>
          <p:nvPr/>
        </p:nvPicPr>
        <p:blipFill>
          <a:blip r:embed="rId4"/>
          <a:stretch>
            <a:fillRect/>
          </a:stretch>
        </p:blipFill>
        <p:spPr>
          <a:xfrm>
            <a:off x="479556" y="4953000"/>
            <a:ext cx="2592105" cy="3870157"/>
          </a:xfrm>
          <a:prstGeom prst="rect">
            <a:avLst/>
          </a:prstGeom>
          <a:effectLst>
            <a:outerShdw blurRad="50800" dist="38100" dir="2700000" algn="tl" rotWithShape="0">
              <a:prstClr val="black">
                <a:alpha val="40000"/>
              </a:prstClr>
            </a:outerShdw>
          </a:effectLst>
        </p:spPr>
      </p:pic>
      <p:sp>
        <p:nvSpPr>
          <p:cNvPr id="6" name="テキスト ボックス 5">
            <a:extLst>
              <a:ext uri="{FF2B5EF4-FFF2-40B4-BE49-F238E27FC236}">
                <a16:creationId xmlns:a16="http://schemas.microsoft.com/office/drawing/2014/main" id="{07DC4534-6407-BA19-7330-D3E91D98CF60}"/>
              </a:ext>
            </a:extLst>
          </p:cNvPr>
          <p:cNvSpPr txBox="1"/>
          <p:nvPr/>
        </p:nvSpPr>
        <p:spPr>
          <a:xfrm>
            <a:off x="3245650" y="1365808"/>
            <a:ext cx="3377734" cy="584775"/>
          </a:xfrm>
          <a:prstGeom prst="rect">
            <a:avLst/>
          </a:prstGeom>
          <a:noFill/>
        </p:spPr>
        <p:txBody>
          <a:bodyPr wrap="square" rtlCol="0">
            <a:spAutoFit/>
          </a:bodyPr>
          <a:lstStyle/>
          <a:p>
            <a:pPr algn="r"/>
            <a:r>
              <a:rPr kumimoji="1" lang="ja-JP" altLang="en-US" sz="3200">
                <a:solidFill>
                  <a:schemeClr val="tx1">
                    <a:lumMod val="65000"/>
                    <a:lumOff val="35000"/>
                  </a:schemeClr>
                </a:solidFill>
                <a:latin typeface="MS PMincho" panose="02020600040205080304" pitchFamily="18" charset="-128"/>
                <a:ea typeface="MS PMincho" panose="02020600040205080304" pitchFamily="18" charset="-128"/>
              </a:rPr>
              <a:t>京都の自然と文化</a:t>
            </a:r>
            <a:endParaRPr kumimoji="1" lang="en-US" altLang="ja-JP" sz="3200" dirty="0">
              <a:solidFill>
                <a:schemeClr val="tx1">
                  <a:lumMod val="65000"/>
                  <a:lumOff val="35000"/>
                </a:schemeClr>
              </a:solidFill>
              <a:latin typeface="MS PMincho" panose="02020600040205080304" pitchFamily="18" charset="-128"/>
              <a:ea typeface="MS PMincho" panose="02020600040205080304" pitchFamily="18" charset="-128"/>
            </a:endParaRPr>
          </a:p>
        </p:txBody>
      </p:sp>
      <p:sp>
        <p:nvSpPr>
          <p:cNvPr id="7" name="テキスト ボックス 6">
            <a:extLst>
              <a:ext uri="{FF2B5EF4-FFF2-40B4-BE49-F238E27FC236}">
                <a16:creationId xmlns:a16="http://schemas.microsoft.com/office/drawing/2014/main" id="{4C9BB838-30E4-D2A7-2885-7E1831D85410}"/>
              </a:ext>
            </a:extLst>
          </p:cNvPr>
          <p:cNvSpPr txBox="1"/>
          <p:nvPr/>
        </p:nvSpPr>
        <p:spPr>
          <a:xfrm>
            <a:off x="3394110" y="1984564"/>
            <a:ext cx="2691004" cy="307777"/>
          </a:xfrm>
          <a:prstGeom prst="rect">
            <a:avLst/>
          </a:prstGeom>
          <a:noFill/>
        </p:spPr>
        <p:txBody>
          <a:bodyPr wrap="square" rtlCol="0">
            <a:spAutoFit/>
          </a:bodyPr>
          <a:lstStyle/>
          <a:p>
            <a:r>
              <a:rPr kumimoji="1" lang="ja-JP" altLang="en-US" sz="1400">
                <a:solidFill>
                  <a:schemeClr val="tx1">
                    <a:lumMod val="65000"/>
                    <a:lumOff val="35000"/>
                  </a:schemeClr>
                </a:solidFill>
                <a:latin typeface="MS PMincho" panose="02020600040205080304" pitchFamily="18" charset="-128"/>
                <a:ea typeface="MS PMincho" panose="02020600040205080304" pitchFamily="18" charset="-128"/>
              </a:rPr>
              <a:t>生態系と人のつながり、その歴史</a:t>
            </a:r>
            <a:endParaRPr kumimoji="1" lang="ja-JP" altLang="en-US" sz="1400">
              <a:solidFill>
                <a:schemeClr val="tx1">
                  <a:lumMod val="65000"/>
                  <a:lumOff val="35000"/>
                </a:schemeClr>
              </a:solidFill>
            </a:endParaRPr>
          </a:p>
        </p:txBody>
      </p:sp>
      <p:cxnSp>
        <p:nvCxnSpPr>
          <p:cNvPr id="9" name="直線コネクタ 8">
            <a:extLst>
              <a:ext uri="{FF2B5EF4-FFF2-40B4-BE49-F238E27FC236}">
                <a16:creationId xmlns:a16="http://schemas.microsoft.com/office/drawing/2014/main" id="{044A170B-2B36-B761-AE61-0420599466DD}"/>
              </a:ext>
            </a:extLst>
          </p:cNvPr>
          <p:cNvCxnSpPr>
            <a:cxnSpLocks/>
          </p:cNvCxnSpPr>
          <p:nvPr/>
        </p:nvCxnSpPr>
        <p:spPr>
          <a:xfrm>
            <a:off x="3429000" y="1984998"/>
            <a:ext cx="3429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10" name="テキスト ボックス 9">
            <a:extLst>
              <a:ext uri="{FF2B5EF4-FFF2-40B4-BE49-F238E27FC236}">
                <a16:creationId xmlns:a16="http://schemas.microsoft.com/office/drawing/2014/main" id="{42478DDD-1E8D-4FAB-9560-BAB20FEA2996}"/>
              </a:ext>
            </a:extLst>
          </p:cNvPr>
          <p:cNvSpPr txBox="1"/>
          <p:nvPr/>
        </p:nvSpPr>
        <p:spPr>
          <a:xfrm>
            <a:off x="-286218" y="-28875"/>
            <a:ext cx="7437793" cy="446276"/>
          </a:xfrm>
          <a:prstGeom prst="rect">
            <a:avLst/>
          </a:prstGeom>
          <a:noFill/>
        </p:spPr>
        <p:txBody>
          <a:bodyPr wrap="square" rtlCol="0">
            <a:spAutoFit/>
          </a:bodyPr>
          <a:lstStyle/>
          <a:p>
            <a:pPr algn="ctr"/>
            <a:r>
              <a:rPr kumimoji="1" lang="en" altLang="ja-JP" sz="2300" dirty="0">
                <a:solidFill>
                  <a:schemeClr val="bg2">
                    <a:lumMod val="90000"/>
                  </a:schemeClr>
                </a:solidFill>
                <a:latin typeface="Palatino" pitchFamily="2" charset="0"/>
                <a:ea typeface="Palatino" pitchFamily="2" charset="0"/>
              </a:rPr>
              <a:t>The History of Human Connections with Ecosystems</a:t>
            </a:r>
            <a:endParaRPr kumimoji="1" lang="ja-JP" altLang="en-US" sz="2300">
              <a:solidFill>
                <a:schemeClr val="bg2">
                  <a:lumMod val="90000"/>
                </a:schemeClr>
              </a:solidFill>
              <a:latin typeface="Palatino" pitchFamily="2" charset="0"/>
            </a:endParaRPr>
          </a:p>
        </p:txBody>
      </p:sp>
      <p:cxnSp>
        <p:nvCxnSpPr>
          <p:cNvPr id="12" name="直線コネクタ 11">
            <a:extLst>
              <a:ext uri="{FF2B5EF4-FFF2-40B4-BE49-F238E27FC236}">
                <a16:creationId xmlns:a16="http://schemas.microsoft.com/office/drawing/2014/main" id="{703850D5-266D-FAD2-C17E-BC6910DB7A1A}"/>
              </a:ext>
            </a:extLst>
          </p:cNvPr>
          <p:cNvCxnSpPr>
            <a:cxnSpLocks/>
          </p:cNvCxnSpPr>
          <p:nvPr/>
        </p:nvCxnSpPr>
        <p:spPr>
          <a:xfrm>
            <a:off x="0" y="274983"/>
            <a:ext cx="6858000" cy="0"/>
          </a:xfrm>
          <a:prstGeom prst="line">
            <a:avLst/>
          </a:prstGeom>
          <a:ln w="9525">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13" name="直線コネクタ 12">
            <a:extLst>
              <a:ext uri="{FF2B5EF4-FFF2-40B4-BE49-F238E27FC236}">
                <a16:creationId xmlns:a16="http://schemas.microsoft.com/office/drawing/2014/main" id="{E4CE2A5D-5532-92A6-1491-5A977AF31393}"/>
              </a:ext>
            </a:extLst>
          </p:cNvPr>
          <p:cNvCxnSpPr>
            <a:cxnSpLocks/>
          </p:cNvCxnSpPr>
          <p:nvPr/>
        </p:nvCxnSpPr>
        <p:spPr>
          <a:xfrm>
            <a:off x="0" y="9298594"/>
            <a:ext cx="3071662"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86106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905FAA3-0A5B-BDD1-E1DD-69843D8D69F2}"/>
              </a:ext>
            </a:extLst>
          </p:cNvPr>
          <p:cNvSpPr txBox="1"/>
          <p:nvPr/>
        </p:nvSpPr>
        <p:spPr>
          <a:xfrm>
            <a:off x="715210" y="4357263"/>
            <a:ext cx="5546441" cy="861774"/>
          </a:xfrm>
          <a:prstGeom prst="rect">
            <a:avLst/>
          </a:prstGeom>
          <a:noFill/>
        </p:spPr>
        <p:txBody>
          <a:bodyPr wrap="square" rtlCol="0">
            <a:spAutoFit/>
          </a:bodyPr>
          <a:lstStyle/>
          <a:p>
            <a:r>
              <a:rPr kumimoji="1" lang="ja-JP" altLang="en-US" sz="1000">
                <a:latin typeface="MS PMincho" panose="02020600040205080304" pitchFamily="18" charset="-128"/>
                <a:ea typeface="MS PMincho" panose="02020600040205080304" pitchFamily="18" charset="-128"/>
              </a:rPr>
              <a:t>千年の都、京都が長きにわたって都であり続けることができたのは、人びとが都市を支える良質な環境と資源を得ることができ、それらを保ち続けることができたからだと思われます。京都で育まれた文化は人びとが自然との結びつきのなかで営んできた生活と生業の中から生まれてきたものでしょう。この公開講演会では生態系と人びとの繋がり、その歴史的な変遷から持続的な人と生態系の関係性の本質を考えたいと思います。</a:t>
            </a:r>
            <a:endParaRPr kumimoji="1" lang="en-US" altLang="ja-JP" sz="1000" dirty="0">
              <a:latin typeface="MS PMincho" panose="02020600040205080304" pitchFamily="18" charset="-128"/>
              <a:ea typeface="MS PMincho" panose="02020600040205080304" pitchFamily="18" charset="-128"/>
            </a:endParaRPr>
          </a:p>
        </p:txBody>
      </p:sp>
      <p:sp>
        <p:nvSpPr>
          <p:cNvPr id="3" name="テキスト ボックス 2">
            <a:extLst>
              <a:ext uri="{FF2B5EF4-FFF2-40B4-BE49-F238E27FC236}">
                <a16:creationId xmlns:a16="http://schemas.microsoft.com/office/drawing/2014/main" id="{31EB78E1-DFDD-17CB-AA82-2DC841A2D962}"/>
              </a:ext>
            </a:extLst>
          </p:cNvPr>
          <p:cNvSpPr txBox="1"/>
          <p:nvPr/>
        </p:nvSpPr>
        <p:spPr>
          <a:xfrm>
            <a:off x="1749352" y="6783604"/>
            <a:ext cx="4591812" cy="1015663"/>
          </a:xfrm>
          <a:prstGeom prst="rect">
            <a:avLst/>
          </a:prstGeom>
          <a:noFill/>
        </p:spPr>
        <p:txBody>
          <a:bodyPr wrap="square" rtlCol="0">
            <a:spAutoFit/>
          </a:bodyPr>
          <a:lstStyle/>
          <a:p>
            <a:r>
              <a:rPr lang="ja-JP" altLang="en-US" sz="1000" b="1">
                <a:latin typeface="MS PMincho" panose="02020600040205080304" pitchFamily="18" charset="-128"/>
                <a:ea typeface="MS PMincho" panose="02020600040205080304" pitchFamily="18" charset="-128"/>
              </a:rPr>
              <a:t>日本庭園とその自然　－</a:t>
            </a:r>
            <a:r>
              <a:rPr lang="en-US" altLang="ja-JP" sz="1000" b="1" dirty="0">
                <a:latin typeface="MS PMincho" panose="02020600040205080304" pitchFamily="18" charset="-128"/>
                <a:ea typeface="MS PMincho" panose="02020600040205080304" pitchFamily="18" charset="-128"/>
              </a:rPr>
              <a:t> </a:t>
            </a:r>
            <a:r>
              <a:rPr lang="ja-JP" altLang="en-US" sz="1000" b="1">
                <a:latin typeface="MS PMincho" panose="02020600040205080304" pitchFamily="18" charset="-128"/>
                <a:ea typeface="MS PMincho" panose="02020600040205080304" pitchFamily="18" charset="-128"/>
              </a:rPr>
              <a:t>修学院離宮</a:t>
            </a:r>
            <a:r>
              <a:rPr lang="en-US" altLang="ja-JP" sz="1000" b="1" dirty="0">
                <a:latin typeface="MS PMincho" panose="02020600040205080304" pitchFamily="18" charset="-128"/>
                <a:ea typeface="MS PMincho" panose="02020600040205080304" pitchFamily="18" charset="-128"/>
              </a:rPr>
              <a:t> </a:t>
            </a:r>
            <a:r>
              <a:rPr lang="ja-JP" altLang="en-US" sz="1000" b="1">
                <a:latin typeface="MS PMincho" panose="02020600040205080304" pitchFamily="18" charset="-128"/>
                <a:ea typeface="MS PMincho" panose="02020600040205080304" pitchFamily="18" charset="-128"/>
              </a:rPr>
              <a:t>−</a:t>
            </a:r>
            <a:endParaRPr kumimoji="1" lang="en-US" altLang="ja-JP" sz="1000" b="1" dirty="0">
              <a:latin typeface="MS PMincho" panose="02020600040205080304" pitchFamily="18" charset="-128"/>
              <a:ea typeface="MS PMincho" panose="02020600040205080304" pitchFamily="18" charset="-128"/>
            </a:endParaRPr>
          </a:p>
          <a:p>
            <a:r>
              <a:rPr kumimoji="1" lang="ja-JP" altLang="en-US" sz="1000">
                <a:latin typeface="MS PMincho" panose="02020600040205080304" pitchFamily="18" charset="-128"/>
                <a:ea typeface="MS PMincho" panose="02020600040205080304" pitchFamily="18" charset="-128"/>
              </a:rPr>
              <a:t>　　ウィーベ　カウテルト　（元ソウル国立大学）</a:t>
            </a:r>
            <a:endParaRPr kumimoji="1" lang="en-US" altLang="ja-JP" sz="1000" dirty="0">
              <a:latin typeface="MS PMincho" panose="02020600040205080304" pitchFamily="18" charset="-128"/>
              <a:ea typeface="MS PMincho" panose="02020600040205080304" pitchFamily="18" charset="-128"/>
            </a:endParaRPr>
          </a:p>
          <a:p>
            <a:r>
              <a:rPr kumimoji="1" lang="ja-JP" altLang="en-US" sz="1000">
                <a:latin typeface="MS PMincho" panose="02020600040205080304" pitchFamily="18" charset="-128"/>
                <a:ea typeface="MS PMincho" panose="02020600040205080304" pitchFamily="18" charset="-128"/>
              </a:rPr>
              <a:t>石、土、水、植物を使って生活空間を創り出すことは人間にとって重要な営みであり、環境や景観の認識に関わります。庭園は人間が造ったもので、周囲の環境や文明を理解する助けになります。文明は自然資源に依存し、第一に景観の生態保護が重要です。修学院離宮の上御茶屋は、これを教えてくれます。</a:t>
            </a:r>
          </a:p>
        </p:txBody>
      </p:sp>
      <p:pic>
        <p:nvPicPr>
          <p:cNvPr id="1026" name="Picture 2">
            <a:extLst>
              <a:ext uri="{FF2B5EF4-FFF2-40B4-BE49-F238E27FC236}">
                <a16:creationId xmlns:a16="http://schemas.microsoft.com/office/drawing/2014/main" id="{5A333DCF-7927-7B4C-9A20-1A67BFE414F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96507" y="6801413"/>
            <a:ext cx="824211" cy="100355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JAWAN（日本湿地ネットワーク）">
            <a:extLst>
              <a:ext uri="{FF2B5EF4-FFF2-40B4-BE49-F238E27FC236}">
                <a16:creationId xmlns:a16="http://schemas.microsoft.com/office/drawing/2014/main" id="{AC6548D1-8489-20C8-9A05-88327DA59374}"/>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96507" y="5631736"/>
            <a:ext cx="824211" cy="1003554"/>
          </a:xfrm>
          <a:prstGeom prst="rect">
            <a:avLst/>
          </a:prstGeom>
          <a:noFill/>
          <a:extLst>
            <a:ext uri="{909E8E84-426E-40DD-AFC4-6F175D3DCCD1}">
              <a14:hiddenFill xmlns:a14="http://schemas.microsoft.com/office/drawing/2010/main">
                <a:solidFill>
                  <a:srgbClr val="FFFFFF"/>
                </a:solidFill>
              </a14:hiddenFill>
            </a:ext>
          </a:extLst>
        </p:spPr>
      </p:pic>
      <p:sp>
        <p:nvSpPr>
          <p:cNvPr id="7" name="テキスト ボックス 6">
            <a:extLst>
              <a:ext uri="{FF2B5EF4-FFF2-40B4-BE49-F238E27FC236}">
                <a16:creationId xmlns:a16="http://schemas.microsoft.com/office/drawing/2014/main" id="{827E90B4-BB50-49FA-7FC4-43BE451A138C}"/>
              </a:ext>
            </a:extLst>
          </p:cNvPr>
          <p:cNvSpPr txBox="1"/>
          <p:nvPr/>
        </p:nvSpPr>
        <p:spPr>
          <a:xfrm>
            <a:off x="1749351" y="5548737"/>
            <a:ext cx="4591813" cy="1169551"/>
          </a:xfrm>
          <a:prstGeom prst="rect">
            <a:avLst/>
          </a:prstGeom>
          <a:noFill/>
        </p:spPr>
        <p:txBody>
          <a:bodyPr wrap="square" rtlCol="0">
            <a:spAutoFit/>
          </a:bodyPr>
          <a:lstStyle/>
          <a:p>
            <a:r>
              <a:rPr kumimoji="1" lang="ja-JP" altLang="en-US" sz="1000" b="1">
                <a:latin typeface="MS PMincho" panose="02020600040205080304" pitchFamily="18" charset="-128"/>
                <a:ea typeface="MS PMincho" panose="02020600040205080304" pitchFamily="18" charset="-128"/>
              </a:rPr>
              <a:t>京都盆地周辺における平安時代以降の森の移り変わり</a:t>
            </a:r>
            <a:endParaRPr kumimoji="1" lang="en-US" altLang="ja-JP" sz="1000" b="1" dirty="0">
              <a:latin typeface="MS PMincho" panose="02020600040205080304" pitchFamily="18" charset="-128"/>
              <a:ea typeface="MS PMincho" panose="02020600040205080304" pitchFamily="18" charset="-128"/>
            </a:endParaRPr>
          </a:p>
          <a:p>
            <a:r>
              <a:rPr kumimoji="1" lang="ja-JP" altLang="en-US" sz="1000">
                <a:latin typeface="MS PMincho" panose="02020600040205080304" pitchFamily="18" charset="-128"/>
                <a:ea typeface="MS PMincho" panose="02020600040205080304" pitchFamily="18" charset="-128"/>
              </a:rPr>
              <a:t>　　高原　光　（京都府立大学）</a:t>
            </a:r>
            <a:endParaRPr kumimoji="1" lang="en-US" altLang="ja-JP" sz="1000" dirty="0">
              <a:latin typeface="MS PMincho" panose="02020600040205080304" pitchFamily="18" charset="-128"/>
              <a:ea typeface="MS PMincho" panose="02020600040205080304" pitchFamily="18" charset="-128"/>
            </a:endParaRPr>
          </a:p>
          <a:p>
            <a:r>
              <a:rPr kumimoji="1" lang="ja-JP" altLang="en-US" sz="1000">
                <a:latin typeface="MS PMincho" panose="02020600040205080304" pitchFamily="18" charset="-128"/>
                <a:ea typeface="MS PMincho" panose="02020600040205080304" pitchFamily="18" charset="-128"/>
              </a:rPr>
              <a:t>京都盆地周辺では，それまでの照葉樹林が平安時代以降に人々の活動の影響を受けアカマツを中心とした植生やはげ山に近い状態に移行し、昭和初期まで続きました。昭和</a:t>
            </a:r>
            <a:r>
              <a:rPr kumimoji="1" lang="en-US" altLang="ja-JP" sz="1000" dirty="0">
                <a:latin typeface="MS PMincho" panose="02020600040205080304" pitchFamily="18" charset="-128"/>
                <a:ea typeface="MS PMincho" panose="02020600040205080304" pitchFamily="18" charset="-128"/>
              </a:rPr>
              <a:t>30</a:t>
            </a:r>
            <a:r>
              <a:rPr kumimoji="1" lang="ja-JP" altLang="en-US" sz="1000">
                <a:latin typeface="MS PMincho" panose="02020600040205080304" pitchFamily="18" charset="-128"/>
                <a:ea typeface="MS PMincho" panose="02020600040205080304" pitchFamily="18" charset="-128"/>
              </a:rPr>
              <a:t>年代以降には、社会におけるエネルギー源の変化とマツ材線虫病の蔓延に伴い、大きく植生景観が変化してきました。特に昭和時代における大きな植生景観の変化を，京都盆地の東山と南部の宇治川周辺に焦点をあてて解説する。</a:t>
            </a:r>
          </a:p>
        </p:txBody>
      </p:sp>
      <p:pic>
        <p:nvPicPr>
          <p:cNvPr id="1034" name="Picture 10" descr="触感コンテンツ＋ウェルビーイング専門誌 ふるえ Vol.39 豊かな食文化を“一般庶民”の生活からひもとく">
            <a:extLst>
              <a:ext uri="{FF2B5EF4-FFF2-40B4-BE49-F238E27FC236}">
                <a16:creationId xmlns:a16="http://schemas.microsoft.com/office/drawing/2014/main" id="{11BD5E7D-3199-9799-6AB9-03E05144CA10}"/>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804889" y="7971089"/>
            <a:ext cx="832594" cy="1102745"/>
          </a:xfrm>
          <a:prstGeom prst="rect">
            <a:avLst/>
          </a:prstGeom>
          <a:noFill/>
          <a:extLst>
            <a:ext uri="{909E8E84-426E-40DD-AFC4-6F175D3DCCD1}">
              <a14:hiddenFill xmlns:a14="http://schemas.microsoft.com/office/drawing/2010/main">
                <a:solidFill>
                  <a:srgbClr val="FFFFFF"/>
                </a:solidFill>
              </a14:hiddenFill>
            </a:ext>
          </a:extLst>
        </p:spPr>
      </p:pic>
      <p:sp>
        <p:nvSpPr>
          <p:cNvPr id="8" name="テキスト ボックス 7">
            <a:extLst>
              <a:ext uri="{FF2B5EF4-FFF2-40B4-BE49-F238E27FC236}">
                <a16:creationId xmlns:a16="http://schemas.microsoft.com/office/drawing/2014/main" id="{5C89D210-F55E-B254-F0D6-55240EC124C6}"/>
              </a:ext>
            </a:extLst>
          </p:cNvPr>
          <p:cNvSpPr txBox="1"/>
          <p:nvPr/>
        </p:nvSpPr>
        <p:spPr>
          <a:xfrm>
            <a:off x="1749351" y="7937685"/>
            <a:ext cx="4691205" cy="1169551"/>
          </a:xfrm>
          <a:prstGeom prst="rect">
            <a:avLst/>
          </a:prstGeom>
          <a:noFill/>
        </p:spPr>
        <p:txBody>
          <a:bodyPr wrap="square" rtlCol="0">
            <a:spAutoFit/>
          </a:bodyPr>
          <a:lstStyle/>
          <a:p>
            <a:r>
              <a:rPr kumimoji="1" lang="ja-JP" altLang="en-US" sz="1000" b="1">
                <a:latin typeface="MS PMincho" panose="02020600040205080304" pitchFamily="18" charset="-128"/>
                <a:ea typeface="MS PMincho" panose="02020600040205080304" pitchFamily="18" charset="-128"/>
              </a:rPr>
              <a:t>人と自然の関係史</a:t>
            </a:r>
            <a:r>
              <a:rPr kumimoji="1" lang="en-US" altLang="ja-JP" sz="1000" b="1" dirty="0">
                <a:latin typeface="MS PMincho" panose="02020600040205080304" pitchFamily="18" charset="-128"/>
                <a:ea typeface="MS PMincho" panose="02020600040205080304" pitchFamily="18" charset="-128"/>
              </a:rPr>
              <a:t>  − </a:t>
            </a:r>
            <a:r>
              <a:rPr kumimoji="1" lang="ja-JP" altLang="en-US" sz="1000" b="1">
                <a:latin typeface="MS PMincho" panose="02020600040205080304" pitchFamily="18" charset="-128"/>
                <a:ea typeface="MS PMincho" panose="02020600040205080304" pitchFamily="18" charset="-128"/>
              </a:rPr>
              <a:t>「食」を起点にすることで見えてくるもの</a:t>
            </a:r>
            <a:r>
              <a:rPr kumimoji="1" lang="en-US" altLang="ja-JP" sz="1000" b="1" dirty="0">
                <a:latin typeface="MS PMincho" panose="02020600040205080304" pitchFamily="18" charset="-128"/>
                <a:ea typeface="MS PMincho" panose="02020600040205080304" pitchFamily="18" charset="-128"/>
              </a:rPr>
              <a:t> </a:t>
            </a:r>
            <a:r>
              <a:rPr kumimoji="1" lang="ja-JP" altLang="en-US" sz="1000" b="1">
                <a:latin typeface="MS PMincho" panose="02020600040205080304" pitchFamily="18" charset="-128"/>
                <a:ea typeface="MS PMincho" panose="02020600040205080304" pitchFamily="18" charset="-128"/>
              </a:rPr>
              <a:t>−</a:t>
            </a:r>
            <a:endParaRPr kumimoji="1" lang="en-US" altLang="ja-JP" sz="1000" b="1" dirty="0">
              <a:latin typeface="MS PMincho" panose="02020600040205080304" pitchFamily="18" charset="-128"/>
              <a:ea typeface="MS PMincho" panose="02020600040205080304" pitchFamily="18" charset="-128"/>
            </a:endParaRPr>
          </a:p>
          <a:p>
            <a:r>
              <a:rPr kumimoji="1" lang="ja-JP" altLang="en-US" sz="1000">
                <a:latin typeface="MS PMincho" panose="02020600040205080304" pitchFamily="18" charset="-128"/>
                <a:ea typeface="MS PMincho" panose="02020600040205080304" pitchFamily="18" charset="-128"/>
              </a:rPr>
              <a:t>　　鎌谷　かおる　（立命間大学）</a:t>
            </a:r>
            <a:endParaRPr kumimoji="1" lang="en-US" altLang="ja-JP" sz="1000" dirty="0">
              <a:latin typeface="MS PMincho" panose="02020600040205080304" pitchFamily="18" charset="-128"/>
              <a:ea typeface="MS PMincho" panose="02020600040205080304" pitchFamily="18" charset="-128"/>
            </a:endParaRPr>
          </a:p>
          <a:p>
            <a:r>
              <a:rPr kumimoji="1" lang="ja-JP" altLang="en-US" sz="1000">
                <a:latin typeface="MS PMincho" panose="02020600040205080304" pitchFamily="18" charset="-128"/>
                <a:ea typeface="MS PMincho" panose="02020600040205080304" pitchFamily="18" charset="-128"/>
              </a:rPr>
              <a:t>日本の長い歴史を、人と自然の関係で読み解くことは、簡単なようで難しいことです。しかし、人々の暮らしや社会のあり方は、常に自然との関わりの中で育まれてきました。江戸時代には、自然に対する考え方が読み取れる史料や書物等が多く残っています。今回は、それらの史料を「食」という新たな視点で見直すことで、人が自然とどのように向き合っていたのかを考えます。</a:t>
            </a:r>
          </a:p>
        </p:txBody>
      </p:sp>
      <p:sp>
        <p:nvSpPr>
          <p:cNvPr id="9" name="テキスト ボックス 8">
            <a:extLst>
              <a:ext uri="{FF2B5EF4-FFF2-40B4-BE49-F238E27FC236}">
                <a16:creationId xmlns:a16="http://schemas.microsoft.com/office/drawing/2014/main" id="{06EA19C0-AC3F-AD9C-3D91-4F6CD45697C4}"/>
              </a:ext>
            </a:extLst>
          </p:cNvPr>
          <p:cNvSpPr txBox="1"/>
          <p:nvPr/>
        </p:nvSpPr>
        <p:spPr>
          <a:xfrm>
            <a:off x="715211" y="3213969"/>
            <a:ext cx="1951175" cy="830997"/>
          </a:xfrm>
          <a:prstGeom prst="rect">
            <a:avLst/>
          </a:prstGeom>
          <a:noFill/>
        </p:spPr>
        <p:txBody>
          <a:bodyPr wrap="none" rtlCol="0">
            <a:spAutoFit/>
          </a:bodyPr>
          <a:lstStyle/>
          <a:p>
            <a:r>
              <a:rPr kumimoji="1" lang="ja-JP" altLang="en-US" sz="1000">
                <a:latin typeface="MS PMincho" panose="02020600040205080304" pitchFamily="18" charset="-128"/>
                <a:ea typeface="MS PMincho" panose="02020600040205080304" pitchFamily="18" charset="-128"/>
              </a:rPr>
              <a:t>日本生態学会</a:t>
            </a:r>
            <a:endParaRPr kumimoji="1" lang="en-US" altLang="ja-JP" sz="1000" dirty="0">
              <a:latin typeface="MS PMincho" panose="02020600040205080304" pitchFamily="18" charset="-128"/>
              <a:ea typeface="MS PMincho" panose="02020600040205080304" pitchFamily="18" charset="-128"/>
            </a:endParaRPr>
          </a:p>
          <a:p>
            <a:r>
              <a:rPr kumimoji="1" lang="ja-JP" altLang="en-US" sz="1000">
                <a:latin typeface="MS PMincho" panose="02020600040205080304" pitchFamily="18" charset="-128"/>
                <a:ea typeface="MS PMincho" panose="02020600040205080304" pitchFamily="18" charset="-128"/>
              </a:rPr>
              <a:t>第</a:t>
            </a:r>
            <a:r>
              <a:rPr kumimoji="1" lang="en-US" altLang="ja-JP" sz="1000" dirty="0">
                <a:latin typeface="Palatino" pitchFamily="2" charset="0"/>
                <a:ea typeface="Palatino" pitchFamily="2" charset="0"/>
              </a:rPr>
              <a:t>29</a:t>
            </a:r>
            <a:r>
              <a:rPr kumimoji="1" lang="ja-JP" altLang="en-US" sz="1000">
                <a:latin typeface="MS PMincho" panose="02020600040205080304" pitchFamily="18" charset="-128"/>
                <a:ea typeface="MS PMincho" panose="02020600040205080304" pitchFamily="18" charset="-128"/>
              </a:rPr>
              <a:t>回公開講演会</a:t>
            </a:r>
            <a:endParaRPr kumimoji="1" lang="en-US" altLang="ja-JP" sz="1000" dirty="0">
              <a:latin typeface="MS PMincho" panose="02020600040205080304" pitchFamily="18" charset="-128"/>
              <a:ea typeface="MS PMincho" panose="02020600040205080304" pitchFamily="18" charset="-128"/>
            </a:endParaRPr>
          </a:p>
          <a:p>
            <a:r>
              <a:rPr kumimoji="1" lang="ja-JP" altLang="en-US">
                <a:latin typeface="MS PMincho" panose="02020600040205080304" pitchFamily="18" charset="-128"/>
                <a:ea typeface="MS PMincho" panose="02020600040205080304" pitchFamily="18" charset="-128"/>
              </a:rPr>
              <a:t>京都の自然と文化</a:t>
            </a:r>
            <a:endParaRPr kumimoji="1" lang="en-US" altLang="ja-JP" dirty="0">
              <a:latin typeface="MS PMincho" panose="02020600040205080304" pitchFamily="18" charset="-128"/>
              <a:ea typeface="MS PMincho" panose="02020600040205080304" pitchFamily="18" charset="-128"/>
            </a:endParaRPr>
          </a:p>
          <a:p>
            <a:r>
              <a:rPr kumimoji="1" lang="ja-JP" altLang="en-US" sz="1000">
                <a:latin typeface="MS PMincho" panose="02020600040205080304" pitchFamily="18" charset="-128"/>
                <a:ea typeface="MS PMincho" panose="02020600040205080304" pitchFamily="18" charset="-128"/>
              </a:rPr>
              <a:t>生態系と人のつながり、その歴史</a:t>
            </a:r>
          </a:p>
        </p:txBody>
      </p:sp>
      <p:pic>
        <p:nvPicPr>
          <p:cNvPr id="11" name="図 10" descr="花が咲いている木&#10;&#10;AI 生成コンテンツは誤りを含む可能性があります。">
            <a:extLst>
              <a:ext uri="{FF2B5EF4-FFF2-40B4-BE49-F238E27FC236}">
                <a16:creationId xmlns:a16="http://schemas.microsoft.com/office/drawing/2014/main" id="{AE52DB19-4132-0863-BA38-1B11D1BD9E05}"/>
              </a:ext>
            </a:extLst>
          </p:cNvPr>
          <p:cNvPicPr>
            <a:picLocks noChangeAspect="1"/>
          </p:cNvPicPr>
          <p:nvPr/>
        </p:nvPicPr>
        <p:blipFill>
          <a:blip r:embed="rId9">
            <a:alphaModFix/>
            <a:extLst>
              <a:ext uri="{BEBA8EAE-BF5A-486C-A8C5-ECC9F3942E4B}">
                <a14:imgProps xmlns:a14="http://schemas.microsoft.com/office/drawing/2010/main">
                  <a14:imgLayer r:embed="rId10">
                    <a14:imgEffect>
                      <a14:saturation sat="0"/>
                    </a14:imgEffect>
                  </a14:imgLayer>
                </a14:imgProps>
              </a:ext>
            </a:extLst>
          </a:blip>
          <a:stretch>
            <a:fillRect/>
          </a:stretch>
        </p:blipFill>
        <p:spPr>
          <a:xfrm>
            <a:off x="2326296" y="884777"/>
            <a:ext cx="2104189" cy="1408892"/>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2" name="テキスト ボックス 11">
            <a:extLst>
              <a:ext uri="{FF2B5EF4-FFF2-40B4-BE49-F238E27FC236}">
                <a16:creationId xmlns:a16="http://schemas.microsoft.com/office/drawing/2014/main" id="{B942A86E-AA60-0445-5870-A039876D06A3}"/>
              </a:ext>
            </a:extLst>
          </p:cNvPr>
          <p:cNvSpPr txBox="1"/>
          <p:nvPr/>
        </p:nvSpPr>
        <p:spPr>
          <a:xfrm>
            <a:off x="-289897" y="9512679"/>
            <a:ext cx="7437793" cy="446276"/>
          </a:xfrm>
          <a:prstGeom prst="rect">
            <a:avLst/>
          </a:prstGeom>
          <a:noFill/>
        </p:spPr>
        <p:txBody>
          <a:bodyPr wrap="square" rtlCol="0">
            <a:spAutoFit/>
          </a:bodyPr>
          <a:lstStyle/>
          <a:p>
            <a:pPr algn="ctr"/>
            <a:r>
              <a:rPr kumimoji="1" lang="en" altLang="ja-JP" sz="2300" dirty="0">
                <a:solidFill>
                  <a:schemeClr val="bg2">
                    <a:lumMod val="90000"/>
                  </a:schemeClr>
                </a:solidFill>
                <a:latin typeface="Palatino" pitchFamily="2" charset="0"/>
                <a:ea typeface="Palatino" pitchFamily="2" charset="0"/>
              </a:rPr>
              <a:t>The History of Human Connections with Ecosystems</a:t>
            </a:r>
            <a:endParaRPr kumimoji="1" lang="ja-JP" altLang="en-US" sz="2300">
              <a:solidFill>
                <a:schemeClr val="bg2">
                  <a:lumMod val="90000"/>
                </a:schemeClr>
              </a:solidFill>
              <a:latin typeface="Palatino" pitchFamily="2" charset="0"/>
            </a:endParaRPr>
          </a:p>
        </p:txBody>
      </p:sp>
      <p:cxnSp>
        <p:nvCxnSpPr>
          <p:cNvPr id="13" name="直線コネクタ 12">
            <a:extLst>
              <a:ext uri="{FF2B5EF4-FFF2-40B4-BE49-F238E27FC236}">
                <a16:creationId xmlns:a16="http://schemas.microsoft.com/office/drawing/2014/main" id="{2698F776-8C22-E1F3-DFA1-FA88495A2351}"/>
              </a:ext>
            </a:extLst>
          </p:cNvPr>
          <p:cNvCxnSpPr>
            <a:cxnSpLocks/>
          </p:cNvCxnSpPr>
          <p:nvPr/>
        </p:nvCxnSpPr>
        <p:spPr>
          <a:xfrm>
            <a:off x="0" y="9821754"/>
            <a:ext cx="6858000" cy="0"/>
          </a:xfrm>
          <a:prstGeom prst="line">
            <a:avLst/>
          </a:prstGeom>
          <a:ln w="9525">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59438291"/>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テーマ">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792</TotalTime>
  <Words>624</Words>
  <Application>Microsoft Macintosh PowerPoint</Application>
  <PresentationFormat>A4 210 x 297 mm</PresentationFormat>
  <Paragraphs>45</Paragraphs>
  <Slides>2</Slides>
  <Notes>2</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2</vt:i4>
      </vt:variant>
    </vt:vector>
  </HeadingPairs>
  <TitlesOfParts>
    <vt:vector size="9" baseType="lpstr">
      <vt:lpstr>MS PMincho</vt:lpstr>
      <vt:lpstr>游ゴシック</vt:lpstr>
      <vt:lpstr>Aptos</vt:lpstr>
      <vt:lpstr>Aptos Display</vt:lpstr>
      <vt:lpstr>Arial</vt:lpstr>
      <vt:lpstr>Palatino</vt:lpstr>
      <vt:lpstr>Office テーマ</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Nobu Ohte</dc:creator>
  <cp:lastModifiedBy>Nobu Ohte</cp:lastModifiedBy>
  <cp:revision>9</cp:revision>
  <cp:lastPrinted>2025-12-04T13:02:46Z</cp:lastPrinted>
  <dcterms:created xsi:type="dcterms:W3CDTF">2025-11-10T13:37:13Z</dcterms:created>
  <dcterms:modified xsi:type="dcterms:W3CDTF">2025-12-05T12:18:53Z</dcterms:modified>
</cp:coreProperties>
</file>